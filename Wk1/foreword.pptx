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8"/>
  </p:notesMasterIdLst>
  <p:handoutMasterIdLst>
    <p:handoutMasterId r:id="rId19"/>
  </p:handoutMasterIdLst>
  <p:sldIdLst>
    <p:sldId id="257" r:id="rId2"/>
    <p:sldId id="259" r:id="rId3"/>
    <p:sldId id="265" r:id="rId4"/>
    <p:sldId id="277" r:id="rId5"/>
    <p:sldId id="275" r:id="rId6"/>
    <p:sldId id="266" r:id="rId7"/>
    <p:sldId id="276" r:id="rId8"/>
    <p:sldId id="274" r:id="rId9"/>
    <p:sldId id="268" r:id="rId10"/>
    <p:sldId id="278" r:id="rId11"/>
    <p:sldId id="273" r:id="rId12"/>
    <p:sldId id="271" r:id="rId13"/>
    <p:sldId id="260" r:id="rId14"/>
    <p:sldId id="272" r:id="rId15"/>
    <p:sldId id="270" r:id="rId16"/>
    <p:sldId id="279" r:id="rId17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2AAF9F1-E50B-45AB-9DDD-AEB2F95F53E1}">
          <p14:sldIdLst>
            <p14:sldId id="257"/>
            <p14:sldId id="259"/>
            <p14:sldId id="265"/>
            <p14:sldId id="277"/>
            <p14:sldId id="275"/>
            <p14:sldId id="266"/>
            <p14:sldId id="276"/>
            <p14:sldId id="274"/>
            <p14:sldId id="268"/>
            <p14:sldId id="278"/>
            <p14:sldId id="273"/>
            <p14:sldId id="271"/>
            <p14:sldId id="260"/>
            <p14:sldId id="272"/>
            <p14:sldId id="270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>
      <p:cViewPr varScale="1">
        <p:scale>
          <a:sx n="72" d="100"/>
          <a:sy n="72" d="100"/>
        </p:scale>
        <p:origin x="90" y="1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繆強(Miao Qiang)" userId="65ee6279-8e67-40c8-bab0-acdfc1ab8a0c" providerId="ADAL" clId="{08DD9F24-35EB-4B05-A813-AE43FD0E7CCB}"/>
    <pc:docChg chg="undo custSel addSld modSld modSection">
      <pc:chgData name="繆強(Miao Qiang)" userId="65ee6279-8e67-40c8-bab0-acdfc1ab8a0c" providerId="ADAL" clId="{08DD9F24-35EB-4B05-A813-AE43FD0E7CCB}" dt="2026-09-09T18:00:16.037" v="121" actId="5793"/>
      <pc:docMkLst>
        <pc:docMk/>
      </pc:docMkLst>
      <pc:sldChg chg="addSp delSp modSp new mod">
        <pc:chgData name="繆強(Miao Qiang)" userId="65ee6279-8e67-40c8-bab0-acdfc1ab8a0c" providerId="ADAL" clId="{08DD9F24-35EB-4B05-A813-AE43FD0E7CCB}" dt="2026-09-09T18:00:16.037" v="121" actId="5793"/>
        <pc:sldMkLst>
          <pc:docMk/>
          <pc:sldMk cId="854735439" sldId="279"/>
        </pc:sldMkLst>
        <pc:spChg chg="mod">
          <ac:chgData name="繆強(Miao Qiang)" userId="65ee6279-8e67-40c8-bab0-acdfc1ab8a0c" providerId="ADAL" clId="{08DD9F24-35EB-4B05-A813-AE43FD0E7CCB}" dt="2026-09-09T17:55:05.773" v="10" actId="6549"/>
          <ac:spMkLst>
            <pc:docMk/>
            <pc:sldMk cId="854735439" sldId="279"/>
            <ac:spMk id="2" creationId="{9E7A1543-0E4E-959D-B071-750A2376F281}"/>
          </ac:spMkLst>
        </pc:spChg>
        <pc:spChg chg="mod">
          <ac:chgData name="繆強(Miao Qiang)" userId="65ee6279-8e67-40c8-bab0-acdfc1ab8a0c" providerId="ADAL" clId="{08DD9F24-35EB-4B05-A813-AE43FD0E7CCB}" dt="2026-09-09T18:00:16.037" v="121" actId="5793"/>
          <ac:spMkLst>
            <pc:docMk/>
            <pc:sldMk cId="854735439" sldId="279"/>
            <ac:spMk id="3" creationId="{5879DB73-3C0F-E155-BD1E-76AA7D740F78}"/>
          </ac:spMkLst>
        </pc:spChg>
        <pc:spChg chg="add del mod">
          <ac:chgData name="繆強(Miao Qiang)" userId="65ee6279-8e67-40c8-bab0-acdfc1ab8a0c" providerId="ADAL" clId="{08DD9F24-35EB-4B05-A813-AE43FD0E7CCB}" dt="2026-09-09T17:59:31.019" v="106"/>
          <ac:spMkLst>
            <pc:docMk/>
            <pc:sldMk cId="854735439" sldId="279"/>
            <ac:spMk id="6" creationId="{8ECB009A-ECC2-8783-EBEF-7B980DA8858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2.124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24575,'0'0'0,"3"0"0,5 0 0,4 0 0,3 0 0,2 0 0,5 0 0,9 0 0,8 0 0,8 0 0,8 0 0,1 0 0,81 0 0,19 0 0,15 0 0,-2 0 0,-7 0 0,-8 0 0,-8 0 0,-6 0 0,-8 0 0,-6 0 0,-16 0 0,-9 0 0,-9 0 0,-11 0 0,-13 0 0,-7 0 0,-8 0 0,-11 0 0,-4 0 0,-6 0 0,2 0 0,4 4 0,10 0 0,12 4 0,12 2 0,10 1 0,11 1 0,-7-2 0,-9-2 0,-15-2 0,-17-3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5.206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4188.72119"/>
      <inkml:brushProperty name="anchorY" value="-1091.70593"/>
      <inkml:brushProperty name="scaleFactor" value="0.5"/>
    </inkml:brush>
  </inkml:definitions>
  <inkml:trace contextRef="#ctx0" brushRef="#br0">1 0 24575,'0'0'0,"3"0"0,5 0 0,4 0 0,3 0 0,2 0 0,2 0 0,8 0 0,8 0 0,8 0 0,11 0 0,7 0 0,8 0 0,0 0 0,3 0 0,2 0 0,5 0 0,4 0 0,13 0 0,7 0 0,18 0 0,11 0 0,15 0 0,7 0 0,11 0 0,5 0 0,-8 0 0,-14 0 0,-11 0 0,-22 0 0,-16 0 0,-7 0 0,-5 0 0,8 0 0,8 0 0,10 0 0,5 0 0,-6 0 0,-7 0 0,-20 0 0,-16 0 0,-18 0 0,-13 0 0,-10 0 0,-7 0 0,-7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6.833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8825.2627"/>
      <inkml:brushProperty name="anchorY" value="-2107.70605"/>
      <inkml:brushProperty name="scaleFactor" value="0.5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7.493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9841.2627"/>
      <inkml:brushProperty name="anchorY" value="-3123.70605"/>
      <inkml:brushProperty name="scaleFactor" value="0.5"/>
    </inkml:brush>
  </inkml:definitions>
  <inkml:trace contextRef="#ctx0" brushRef="#br0">1 21 24575,'0'0'0,"6"0"0,22-4 0,26 0 0,22 0 0,34 1 0,24 0 0,16 2 0,12 0 0,4 1 0,-4 0 0,-13 0 0,-19 0 0,-26 0 0,-18 0 0,-20 0 0,-16 0 0,-7 1 0,-1-1 0,2 0 0,7 0 0,7 0 0,10 0 0,6 0 0,-3 0 0,0 0 0,-3 0 0,-6 0 0,-4 0 0,-6 0 0,-4 0 0,-5 0 0,-6 0 0,-2 0 0,-2 0 0,-2 0 0,-4 0 0,-7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9.074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13526.6709"/>
      <inkml:brushProperty name="anchorY" value="-4119.85596"/>
      <inkml:brushProperty name="scaleFactor" value="0.5"/>
    </inkml:brush>
  </inkml:definitions>
  <inkml:trace contextRef="#ctx0" brushRef="#br0">1 97 24575,'0'0'0,"3"0"0,6 0 0,6 0 0,4 0 0,6 0 0,9 0 0,11 0 0,14 0 0,21 0 0,10 0 0,8 0 0,-1 0 0,-3 0 0,-9 0 0,-4 0 0,-3 0 0,-3 0 0,-4 0 0,3 0 0,12 0 0,13 0 0,16 0 0,18 0 0,11 0 0,4 0 0,0 0 0,-3 0 0,-6 0 0,-4-4 0,-2 1 0,6-9 0,1 1 0,-4 0 0,-13 0 0,-13 1 0,-12-1 0,-21 2 0,-15 3 0,-16 1 0,-12 2 0,-13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5:51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405 462 24575,'1'-2'0,"0"1"0,0-1 0,-1 1 0,1 0 0,0 0 0,0 0 0,0 0 0,1-1 0,-1 1 0,0 1 0,0-1 0,1 0 0,-1 0 0,0 0 0,1 1 0,-1-1 0,1 0 0,2 0 0,1-1 0,19-12 0,-1 0 0,0-2 0,26-23 0,26-19 0,-52 45 0,1 1 0,0 0 0,1 2 0,28-7 0,12-6 0,56-16 0,-20 8 0,-63 16 0,-22 9 0,1 0 0,-1 0 0,31-5 0,80-16 0,-94 18 0,0 2 0,0 0 0,57-2 0,169-9 0,-14 0 0,760 16 0,-493 4 0,1419-2 0,-1923-1 0,0 1 0,0 0 0,-1 0 0,1 1 0,0 0 0,0 0 0,-1 1 0,1 0 0,-1 0 0,1 1 0,-1 0 0,0 0 0,0 1 0,0-1 0,7 7 0,14 17 0,0 0 0,-3 2 0,0 1 0,-2 1 0,30 53 0,-25-41 0,-4-7 0,-1-1 0,20 39 0,-37-60 0,0 0 0,0 0 0,-2 0 0,0 0 0,0 1 0,2 24 0,0 32 0,3 0 0,3-1 0,24 77 0,-28-115 0,0 0 0,-2 0 0,3 63 0,-10 101 0,-2-73 0,3-103 0,-1 1 0,0-1 0,-2 1 0,0-1 0,-2 0 0,0 0 0,-1 0 0,-1-1 0,-1 0 0,-11 22 0,-88 137 0,99-162 0,-87 149 0,64-126 0,-1-2 0,-2-1 0,-50 41 0,20-18 0,14-15 0,-102 67 0,16-15 0,114-79 0,-1-2 0,-1-1 0,-44 20 0,-81 23 0,106-42 0,-48 16 0,-2-4 0,-179 29 0,-247 20 0,258-48 0,92-13 0,128-10 0,-224 36 0,216-31 0,-1-2 0,-69 2 0,-101-10 0,114-1 0,-150 1 0,-198-2 0,409-2 0,1-3 0,0-1 0,0-2 0,-74-27 0,3 1 0,55 17 0,2-4 0,-58-30 0,23 2 0,-154-114 0,66 41 0,148 103 0,0-2 0,1-1 0,2-2 0,-46-48 0,-111-157 0,179 218 0,0 1 0,1-1 0,0 0 0,1-1 0,-8-25 0,-12-74 0,10 40 0,-90-317 0,30 119 0,64 213 0,3 0 0,-3-66 0,7 59 0,3 50-110,0 4-4,1 0 0,0 0 0,1 0 0,0 0 0,0 0-1,1-1 1,1 1 0,0 0 0,0 1 0,5-12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08.313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0"/>
      <inkml:brushProperty name="anchorY" value="0"/>
      <inkml:brushProperty name="scaleFactor" value="0.5"/>
    </inkml:brush>
  </inkml:definitions>
  <inkml:trace contextRef="#ctx0" brushRef="#br0">460 421 24575,'0'0'0,"0"-3"0,0-6 0,0-2 0,0-8 0,0-2 0,8-2 0,3 1 0,13 0 0,9 0 0,10-2 0,7 0 0,5 1 0,2 0 0,2 2 0,0 4 0,-7 5 0,-5 1 0,-8-1 0,-7 2 0,-2-1 0,-3 2 0,0 2 0,6 3 0,-1-3 0,6 2 0,9-3 0,8 1 0,2 1 0,5 2 0,0 1 0,-7 2 0,-2-4 0,-4 1 0,-8 1 0,-3 0 0,-2 1 0,0 0 0,-5 2 0,1 0 0,9 0 0,4 0 0,14 0 0,15 0 0,10 0 0,7 0 0,6 0 0,-3 0 0,1 0 0,-8 0 0,-4 0 0,-7 0 0,-3 0 0,-9 0 0,0 0 0,5 0 0,6 0 0,14 0 0,14 0 0,12 0 0,13 0 0,-1 0 0,-5 0 0,-10 0 0,-14 0 0,-22 0 0,-15 0 0,-12 0 0,-9 0 0,1 0 0,1 0 0,4 4 0,4 0 0,2 0 0,0-1 0,1 3 0,0 0 0,2 2 0,-3 3 0,0 3 0,1 2 0,-2 2 0,-8-3 0,-2 1 0,-4-4 0,-4 4 0,4 1 0,3 6 0,5 4 0,1 0 0,0 4 0,-2-5 0,-2 1 0,-8-2 0,-7-2 0,0-5 0,-6-1 0,-3-1 0,-1 0 0,0 1 0,0 4 0,4 1 0,1 0 0,4 0 0,-4 3 0,3 4 0,3 2 0,2 8 0,4 5 0,-6-2 0,-2-1 0,-7-4 0,-3-5 0,-4-1 0,-1-4 0,1-2 0,-2 1 0,-2-1 0,1 2 0,-2 3 0,2 3 0,2 2 0,-1 1 0,3-6 0,-4 1 0,-1 0 0,-3-3 0,-1-2 0,-3-2 0,0-2 0,-2-1 0,5-5 0,-1 2 0,1 9 0,-1 0 0,-1 0 0,-1-1 0,0-2 0,-1 3 0,0-2 0,0 2 0,0 0 0,0 1 0,0 4 0,-1-3 0,1 3 0,0 5 0,0-2 0,0 4 0,0 6 0,0 0 0,0 3 0,0 3 0,0-5 0,0-2 0,0-7 0,0-6 0,0 0 0,0-1 0,-3-2 0,-5-2 0,0-2 0,1-2 0,2-2 0,1 0 0,-2-2 0,0 5 0,2 0 0,-3-1 0,-3 4 0,-3-5 0,2 4 0,-3 1 0,-4 1 0,-2 2 0,-5 3 0,0 2 0,0 1 0,-3 3 0,2 0 0,0-4 0,-1 1 0,1-4 0,2-3 0,5 0 0,1 2 0,2-2 0,-4-2 0,-1-2 0,-1-1 0,1-3 0,0 0 0,-3-1 0,-3-4 0,-1 0 0,-2 0 0,-2 4 0,-6 2 0,-2 4 0,-5 4 0,-4 0 0,-4-1 0,6-3 0,-2 2 0,3-1 0,2-2 0,6-1 0,2-6 0,1 0 0,0 2 0,-1 1 0,-4 4 0,-5 0 0,0 4 0,0 0 0,1-6 0,-2-2 0,6-6 0,-4 0 0,-1 4 0,-1 0 0,2 2 0,-2 0 0,-3 0 0,-3 4 0,-6-4 0,2 4 0,-4-2 0,-1 4 0,-3 0 0,0 2 0,4-1 0,-2-1 0,2-2 0,-4-2 0,-2-1 0,-4-1 0,1-5 0,-6 0 0,-5 4 0,3 0 0,-1 2 0,1-5 0,4 1 0,4-5 0,1 1 0,-9 0 0,-5-2 0,-6 1 0,-12 2 0,-3-3 0,-5 2 0,1 0 0,2-1 0,-2 0 0,7-2 0,9-2 0,11 1 0,8-2 0,7 2 0,13-1 0,7-2 0,8-2 0,0-1 0,-3-2 0,-4 0 0,-4-1 0,-4-1 0,-7 1 0,2 0 0,-4-1 0,-1 1 0,9 0 0,0 0 0,5-4 0,8 0 0,6-3 0,6-1 0,4 2 0,3-3 0,2-2 0,2 2 0,-1-7 0,0-1 0,0-2 0,-1-1 0,-3-1 0,3 1 0,0 0 0,0 0 0,1 1 0,3-1 0,1-3 0,-1-7 0,0-9 0,-6-6 0,0-3 0,-1-3 0,0-2 0,0 2 0,1-2 0,1 0 0,4-5 0,5 2 0,3-4 0,0-4 0,3-4 0,0 0 0,-1 2 0,1-2 0,-4-1 0,2-7 0,1-1 0,2 2 0,1 0 0,1 0 0,2 0 0,0-4 0,0 7 0,0 0 0,0 8 0,1 8 0,-1 6 0,0 5 0,0 8 0,0 3 0,0 0 0,0 4 0,0-4 0,0 2 0,0-5 0,4-5 0,0 3 0,3-5 0,0 1 0,0 1 0,1-3 0,-1-7 0,2-3 0,3 5 0,-1-1 0,1 3 0,-2 7 0,-2 3 0,1 1 0,-2 5 0,-1 0 0,1 0 0,3 2 0,3-1 0,2-1 0,2-6 0,2-2 0,0-4 0,-4-1 0,5-3 0,0 9 0,-4 5 0,0 6 0,-3 4 0,-4 4 0,-4 1 0,-2 1 0,2 0 0,-1 0 0,0-4 0,2 0 0,3-5 0,8-3 0,-2 1 0,-1 1 0,0 3 0,-3 2 0,-3 1 0,0 2 0,-1 1 0,2 4 0,-2 0 0,-1 0 0,-2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12.203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1050.98376"/>
      <inkml:brushProperty name="anchorY" value="-1109.5448"/>
      <inkml:brushProperty name="scaleFactor" value="0.5"/>
    </inkml:brush>
  </inkml:definitions>
  <inkml:trace contextRef="#ctx0" brushRef="#br0">0 0 24575,'0'0'0,"4"0"0,11 0 0,13 0 0,10 0 0,12 0 0,15 0 0,7 0 0,10 0 0,5 0 0,2 0 0,2 0 0,-6 0 0,-7 0 0,-2 0 0,-11 0 0,-7 0 0,-8 0 0,-10 0 0,-7 0 0,-3 0 0,0 0 0,5 0 0,9 0 0,14 0 0,12 0 0,7 0 0,4 0 0,-2 0 0,-5 0 0,-5 0 0,-9 0 0,-3 0 0,-2 0 0,-5 0 0,-3 0 0,0 0 0,-3 0 0,3 0 0,2 0 0,-5 0 0,2 0 0,-2 0 0,-5 0 0,-2 0 0,-5 0 0,0 0 0,-4 0 0,-2 0 0,-3 0 0,-2 0 0,-1 0 0,3 0 0,-1 0 0,1 0 0,-1 0 0,-1 0 0,-1 0 0,4 0 0,-1 0 0,4 0 0,-1 0 0,-1 0 0,-1 0 0,2 0 0,-2 0 0,4 0 0,-2 0 0,0 0 0,-3 0 0,-1 0 0,-1 0 0,-2 0 0,1 0 0,-1 0 0,-1 0 0,1 0 0,0 0 0,0 0 0,0 0 0,0 0 0,0 0 0,0 0 0,0 0 0,4 0 0,0 0 0,0 0 0,-5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26.973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11297.12793"/>
      <inkml:brushProperty name="anchorY" value="-5201.14648"/>
      <inkml:brushProperty name="scaleFactor" value="0.5"/>
    </inkml:brush>
  </inkml:definitions>
  <inkml:trace contextRef="#ctx0" brushRef="#br0">0 1 24575,'0'0'0,"6"0"0,19 0 0,13 4 0,23 3 0,11 13 0,11 6 0,12 15 0,7 7 0,7 3 0,-3 7 0,-10-2 0,-7-3 0,-10-8 0,-4-3 0,-3-4 0,0 2 0,0 0 0,2 1 0,-4-2 0,-6-3 0,-4-1 0,-10 0 0,-2 0 0,-1 1 0,3 0 0,5 2 0,2-8 0,6 0 0,-3-3 0,-1-3 0,-4-2 0,-9-5 0,-9-5 0,-10-5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2026/9/10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624E38-6863-48AA-AF4F-223A1322623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299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624E38-6863-48AA-AF4F-223A1322623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9009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624E38-6863-48AA-AF4F-223A1322623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943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70.png"/><Relationship Id="rId12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90.png"/><Relationship Id="rId5" Type="http://schemas.openxmlformats.org/officeDocument/2006/relationships/image" Target="../media/image6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google.com/forms/d/1RasdcuGjGONerR3DAMOtr35PDkjYMdOjHwpiu-RaE94/edi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5984" y="639097"/>
            <a:ext cx="6588690" cy="3686015"/>
          </a:xfrm>
        </p:spPr>
        <p:txBody>
          <a:bodyPr rtlCol="0">
            <a:normAutofit/>
          </a:bodyPr>
          <a:lstStyle/>
          <a:p>
            <a:r>
              <a:rPr lang="en-US" altLang="zh-TW" b="1" dirty="0">
                <a:solidFill>
                  <a:srgbClr val="0070C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English for Information Technology</a:t>
            </a:r>
            <a:endParaRPr lang="zh-tw" sz="8000" dirty="0">
              <a:solidFill>
                <a:srgbClr val="0070C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754" y="4672738"/>
            <a:ext cx="6131346" cy="1546161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Dept of information management, </a:t>
            </a:r>
            <a:r>
              <a:rPr lang="en-US" altLang="zh-TW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Yuanze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University</a:t>
            </a:r>
          </a:p>
          <a:p>
            <a:pPr rtl="0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Autumn 2026</a:t>
            </a:r>
            <a:endParaRPr lang="en-US" alt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圖片 4" descr="含有建築物、坐下、板凳、側面的圖片&#10;&#10;自動產生的描述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968657" cy="6857999"/>
          </a:xfrm>
          <a:prstGeom prst="rect">
            <a:avLst/>
          </a:prstGeom>
        </p:spPr>
      </p:pic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46FBA3-EEBD-6536-9B07-3EF0CFF4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40" y="2108674"/>
            <a:ext cx="3058160" cy="768457"/>
          </a:xfrm>
        </p:spPr>
        <p:txBody>
          <a:bodyPr>
            <a:normAutofit/>
          </a:bodyPr>
          <a:lstStyle/>
          <a:p>
            <a:pPr algn="r"/>
            <a:r>
              <a:rPr lang="en-US" altLang="zh-TW" sz="44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Luke Miao</a:t>
            </a:r>
            <a:endParaRPr lang="zh-TW" altLang="en-US" sz="4400" dirty="0">
              <a:solidFill>
                <a:srgbClr val="0070C0"/>
              </a:solidFill>
              <a:latin typeface="Cambria" panose="02040503050406030204" pitchFamily="18" charset="0"/>
              <a:ea typeface="Yu Gothic" panose="020B0400000000000000" pitchFamily="34" charset="-128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0CA0AE-170E-CADE-CFD6-1470C0EC9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2346960"/>
            <a:ext cx="7650480" cy="3625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95000"/>
                  </a:schemeClr>
                </a:solidFill>
                <a:highlight>
                  <a:srgbClr val="000080"/>
                </a:highlight>
              </a:rPr>
              <a:t>::::::Education History:::::: </a:t>
            </a:r>
          </a:p>
          <a:p>
            <a: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Institute of Network Learning Technology, </a:t>
            </a:r>
            <a:b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National Central University</a:t>
            </a:r>
            <a: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doctoral candidate</a:t>
            </a:r>
          </a:p>
          <a:p>
            <a: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School of Education, </a:t>
            </a:r>
            <a:b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University of Oulu</a:t>
            </a:r>
            <a: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Finland, master’s degree</a:t>
            </a:r>
          </a:p>
          <a:p>
            <a: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School of Education,</a:t>
            </a:r>
            <a:b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Jiangxi Normal University</a:t>
            </a:r>
            <a:r>
              <a:rPr lang="en-US" altLang="zh-TW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bachelor’s degree</a:t>
            </a:r>
            <a:endParaRPr lang="en-US" altLang="zh-TW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2884BCD4-C69C-9869-22FD-719B540B7E1F}"/>
              </a:ext>
            </a:extLst>
          </p:cNvPr>
          <p:cNvSpPr txBox="1">
            <a:spLocks/>
          </p:cNvSpPr>
          <p:nvPr/>
        </p:nvSpPr>
        <p:spPr>
          <a:xfrm>
            <a:off x="965200" y="263529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MingLiu" panose="02020509000000000000" pitchFamily="49" charset="-120"/>
                <a:ea typeface="MingLiu" panose="02020509000000000000" pitchFamily="49" charset="-120"/>
                <a:cs typeface="+mj-cs"/>
              </a:defRPr>
            </a:lvl1pPr>
          </a:lstStyle>
          <a:p>
            <a:r>
              <a:rPr lang="en-US" altLang="zh-TW" dirty="0">
                <a:latin typeface="Stylish" pitchFamily="2" charset="0"/>
                <a:ea typeface="Stylish" pitchFamily="2" charset="0"/>
              </a:rPr>
              <a:t>Instructor</a:t>
            </a:r>
            <a:endParaRPr lang="zh-TW" altLang="en-US" dirty="0">
              <a:latin typeface="Stylish" pitchFamily="2" charset="0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796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136" y="286603"/>
            <a:ext cx="10646544" cy="1289429"/>
          </a:xfrm>
        </p:spPr>
        <p:txBody>
          <a:bodyPr/>
          <a:lstStyle/>
          <a:p>
            <a:r>
              <a:rPr lang="en-US" altLang="zh-TW" dirty="0">
                <a:solidFill>
                  <a:srgbClr val="0070C0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Textbooks &amp; Materials</a:t>
            </a:r>
            <a:endParaRPr lang="zh-TW" altLang="en-US" dirty="0">
              <a:solidFill>
                <a:srgbClr val="0070C0"/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內容版面配置區 4">
            <a:extLst>
              <a:ext uri="{FF2B5EF4-FFF2-40B4-BE49-F238E27FC236}">
                <a16:creationId xmlns:a16="http://schemas.microsoft.com/office/drawing/2014/main" id="{2593C8E7-ABD5-0037-6522-A085730D2A68}"/>
              </a:ext>
            </a:extLst>
          </p:cNvPr>
          <p:cNvSpPr txBox="1">
            <a:spLocks/>
          </p:cNvSpPr>
          <p:nvPr/>
        </p:nvSpPr>
        <p:spPr>
          <a:xfrm>
            <a:off x="591991" y="2038289"/>
            <a:ext cx="2232490" cy="626478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Printed copy available at University Library:</a:t>
            </a: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EAA084-62AC-420B-757D-5DCEEC8DF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935" y="1837479"/>
            <a:ext cx="3672074" cy="473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1C3D6BF-B933-1332-3BFF-05F01408C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203" y="1810246"/>
            <a:ext cx="3563450" cy="489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43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Online Resources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CE9AE11-00BC-D265-1B69-6065F7DCF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34" y="1944196"/>
            <a:ext cx="5733336" cy="44440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EBF059B-F87F-DF24-0D47-493995982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409" y="2413921"/>
            <a:ext cx="3722140" cy="378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0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Online Resources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6DDDEAA-6FED-5896-2248-B220E6E9E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13" y="1972106"/>
            <a:ext cx="4415697" cy="459929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580BC41-8147-62C1-2D87-D44983ACD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540" y="1972106"/>
            <a:ext cx="4214974" cy="474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0" y="286603"/>
            <a:ext cx="7113069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Optional Online Resources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EE43F82-E436-04CC-DFEF-ED1B7C43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912654"/>
            <a:ext cx="2424361" cy="56054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4E8FC9F-28FD-66AF-1468-2DFA0A266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45" y="1959429"/>
            <a:ext cx="6469612" cy="4703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C002B0FD-A4D8-C23B-FF6F-33F5B8EF7E4E}"/>
                  </a:ext>
                </a:extLst>
              </p14:cNvPr>
              <p14:cNvContentPartPr/>
              <p14:nvPr/>
            </p14:nvContentPartPr>
            <p14:xfrm>
              <a:off x="1230512" y="4826466"/>
              <a:ext cx="1142640" cy="2772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C002B0FD-A4D8-C23B-FF6F-33F5B8EF7E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2872" y="4808466"/>
                <a:ext cx="11782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C0A98A03-AD72-6AA9-4AEA-A594D6A05D4A}"/>
                  </a:ext>
                </a:extLst>
              </p14:cNvPr>
              <p14:cNvContentPartPr/>
              <p14:nvPr/>
            </p14:nvContentPartPr>
            <p14:xfrm>
              <a:off x="1257872" y="5335146"/>
              <a:ext cx="130392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C0A98A03-AD72-6AA9-4AEA-A594D6A05D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0232" y="5317146"/>
                <a:ext cx="13395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56D4DB7C-1685-6AC0-DD84-F6E3E64DBD37}"/>
              </a:ext>
            </a:extLst>
          </p:cNvPr>
          <p:cNvGrpSpPr/>
          <p:nvPr/>
        </p:nvGrpSpPr>
        <p:grpSpPr>
          <a:xfrm>
            <a:off x="1244192" y="5602626"/>
            <a:ext cx="961200" cy="7920"/>
            <a:chOff x="1244192" y="5602626"/>
            <a:chExt cx="961200" cy="7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C9812D69-D1E9-D227-7060-2BBC4E44695B}"/>
                    </a:ext>
                  </a:extLst>
                </p14:cNvPr>
                <p14:cNvContentPartPr/>
                <p14:nvPr/>
              </p14:nvContentPartPr>
              <p14:xfrm>
                <a:off x="1244192" y="5610186"/>
                <a:ext cx="360" cy="3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C9812D69-D1E9-D227-7060-2BBC4E4469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26552" y="559218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A4E9F2E0-86E9-9247-7051-90548AFCC5EE}"/>
                    </a:ext>
                  </a:extLst>
                </p14:cNvPr>
                <p14:cNvContentPartPr/>
                <p14:nvPr/>
              </p14:nvContentPartPr>
              <p14:xfrm>
                <a:off x="1244192" y="5602626"/>
                <a:ext cx="961200" cy="792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A4E9F2E0-86E9-9247-7051-90548AFCC5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6552" y="5584986"/>
                  <a:ext cx="99684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E409BA5E-314D-A8AB-6F23-791AF0A42ABF}"/>
                  </a:ext>
                </a:extLst>
              </p14:cNvPr>
              <p14:cNvContentPartPr/>
              <p14:nvPr/>
            </p14:nvContentPartPr>
            <p14:xfrm>
              <a:off x="1223312" y="5795226"/>
              <a:ext cx="1275840" cy="3528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E409BA5E-314D-A8AB-6F23-791AF0A42A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05672" y="5777226"/>
                <a:ext cx="1311480" cy="709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8BAD488C-94E8-4EDD-80F3-65C34FC19018}"/>
              </a:ext>
            </a:extLst>
          </p:cNvPr>
          <p:cNvSpPr txBox="1"/>
          <p:nvPr/>
        </p:nvSpPr>
        <p:spPr>
          <a:xfrm>
            <a:off x="7947718" y="2440692"/>
            <a:ext cx="3547597" cy="2240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>
                <a:solidFill>
                  <a:srgbClr val="0070C0"/>
                </a:solidFill>
              </a:rPr>
              <a:t>AI &amp; Data Science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>
                <a:solidFill>
                  <a:srgbClr val="0070C0"/>
                </a:solidFill>
              </a:rPr>
              <a:t>Information Technology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>
                <a:solidFill>
                  <a:srgbClr val="0070C0"/>
                </a:solidFill>
              </a:rPr>
              <a:t>Professional Skills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>
                <a:solidFill>
                  <a:srgbClr val="0070C0"/>
                </a:solidFill>
              </a:rPr>
              <a:t>Digital Literacy</a:t>
            </a:r>
            <a:endParaRPr lang="zh-TW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113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0" y="286603"/>
            <a:ext cx="7113069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Optional Online Resources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EE43F82-E436-04CC-DFEF-ED1B7C43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912654"/>
            <a:ext cx="2424361" cy="56054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6299E1F-2C84-CDC3-4BFD-E947CFCE6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01" y="2109651"/>
            <a:ext cx="5536818" cy="44617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B8E0564D-A93B-9FB1-C617-65092E77628F}"/>
                  </a:ext>
                </a:extLst>
              </p14:cNvPr>
              <p14:cNvContentPartPr/>
              <p14:nvPr/>
            </p14:nvContentPartPr>
            <p14:xfrm>
              <a:off x="4439912" y="3938346"/>
              <a:ext cx="2168640" cy="108144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B8E0564D-A93B-9FB1-C617-65092E7762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2272" y="3920706"/>
                <a:ext cx="2204280" cy="11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879E4975-42CA-4F55-B2EF-8046949FECF6}"/>
                  </a:ext>
                </a:extLst>
              </p14:cNvPr>
              <p14:cNvContentPartPr/>
              <p14:nvPr/>
            </p14:nvContentPartPr>
            <p14:xfrm>
              <a:off x="4413272" y="5114826"/>
              <a:ext cx="2160000" cy="16167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879E4975-42CA-4F55-B2EF-8046949FEC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5632" y="5097186"/>
                <a:ext cx="2195640" cy="16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0320269A-8313-03AC-2B9E-FB742BEA5CAC}"/>
                  </a:ext>
                </a:extLst>
              </p14:cNvPr>
              <p14:cNvContentPartPr/>
              <p14:nvPr/>
            </p14:nvContentPartPr>
            <p14:xfrm>
              <a:off x="1065632" y="3251826"/>
              <a:ext cx="1221480" cy="36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0320269A-8313-03AC-2B9E-FB742BEA5C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7632" y="3233826"/>
                <a:ext cx="1257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3B6963DA-A700-2B2A-9D5C-78B4834D14FE}"/>
                  </a:ext>
                </a:extLst>
              </p14:cNvPr>
              <p14:cNvContentPartPr/>
              <p14:nvPr/>
            </p14:nvContentPartPr>
            <p14:xfrm>
              <a:off x="2612552" y="2873466"/>
              <a:ext cx="783000" cy="38520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3B6963DA-A700-2B2A-9D5C-78B4834D14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94552" y="2855826"/>
                <a:ext cx="818640" cy="42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396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006163-8460-F59C-E728-50B49570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91468"/>
          </a:xfrm>
        </p:spPr>
        <p:txBody>
          <a:bodyPr/>
          <a:lstStyle/>
          <a:p>
            <a:r>
              <a:rPr lang="en-US" altLang="zh-TW" dirty="0">
                <a:latin typeface="Stylish" pitchFamily="2" charset="0"/>
                <a:ea typeface="Stylish" pitchFamily="2" charset="0"/>
              </a:rPr>
              <a:t>Ready for some challenges?</a:t>
            </a:r>
            <a:endParaRPr lang="zh-TW" altLang="en-US" dirty="0">
              <a:latin typeface="Stylish" pitchFamily="2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2C643BC-54FE-7C29-BF7B-60498B852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highlight>
                  <a:srgbClr val="FFFF00"/>
                </a:highlight>
              </a:rPr>
              <a:t>Read</a:t>
            </a:r>
            <a:r>
              <a:rPr lang="en-US" altLang="zh-TW" b="1" dirty="0"/>
              <a:t> tech news in English on a daily basis</a:t>
            </a:r>
            <a:r>
              <a:rPr lang="en-US" altLang="zh-TW" dirty="0"/>
              <a:t>.</a:t>
            </a:r>
          </a:p>
          <a:p>
            <a:r>
              <a:rPr lang="en-US" altLang="zh-TW" b="1" dirty="0">
                <a:highlight>
                  <a:srgbClr val="FFFF00"/>
                </a:highlight>
              </a:rPr>
              <a:t>Listen</a:t>
            </a:r>
            <a:r>
              <a:rPr lang="en-US" altLang="zh-TW" b="1" dirty="0"/>
              <a:t> to English podcasts or YouTube channels</a:t>
            </a:r>
            <a:r>
              <a:rPr lang="en-US" altLang="zh-TW" dirty="0"/>
              <a:t> related to technology and innovation. </a:t>
            </a:r>
          </a:p>
          <a:p>
            <a:r>
              <a:rPr lang="en-US" altLang="zh-TW" b="1" dirty="0">
                <a:highlight>
                  <a:srgbClr val="FFFF00"/>
                </a:highlight>
              </a:rPr>
              <a:t>Join</a:t>
            </a:r>
            <a:r>
              <a:rPr lang="en-US" altLang="zh-TW" b="1" dirty="0"/>
              <a:t> online IT forums or communities</a:t>
            </a:r>
            <a:r>
              <a:rPr lang="en-US" altLang="zh-TW" dirty="0"/>
              <a:t> (</a:t>
            </a:r>
            <a:r>
              <a:rPr lang="en-US" altLang="zh-TW" i="1" dirty="0"/>
              <a:t>Stack Overflow, Reddit</a:t>
            </a:r>
            <a:r>
              <a:rPr lang="en-US" altLang="zh-TW" dirty="0"/>
              <a:t> programming threads) and practice asking/answering questions in English.</a:t>
            </a:r>
          </a:p>
          <a:p>
            <a:r>
              <a:rPr lang="en-US" altLang="zh-TW" b="1" dirty="0"/>
              <a:t>Pair up with a study buddy</a:t>
            </a:r>
            <a:r>
              <a:rPr lang="en-US" altLang="zh-TW" dirty="0"/>
              <a:t> and commit to </a:t>
            </a:r>
            <a:r>
              <a:rPr lang="en-US" altLang="zh-TW" b="1" dirty="0">
                <a:highlight>
                  <a:srgbClr val="FFFF00"/>
                </a:highlight>
              </a:rPr>
              <a:t>speaking</a:t>
            </a:r>
            <a:r>
              <a:rPr lang="en-US" altLang="zh-TW" dirty="0"/>
              <a:t> only English during group projects or coding practice.</a:t>
            </a:r>
          </a:p>
          <a:p>
            <a:r>
              <a:rPr lang="en-US" altLang="zh-TW" b="1" dirty="0"/>
              <a:t>Practice writing short </a:t>
            </a:r>
            <a:r>
              <a:rPr lang="en-US" altLang="zh-TW" b="1" dirty="0">
                <a:highlight>
                  <a:srgbClr val="FFFF00"/>
                </a:highlight>
              </a:rPr>
              <a:t>reflections</a:t>
            </a:r>
            <a:r>
              <a:rPr lang="en-US" altLang="zh-TW" b="1" dirty="0"/>
              <a:t> in English</a:t>
            </a:r>
            <a:r>
              <a:rPr lang="en-US" altLang="zh-TW" dirty="0"/>
              <a:t> after each class—summarize what you learned in your own words.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2015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006163-8460-F59C-E728-50B49570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91468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Stylish" pitchFamily="2" charset="0"/>
                <a:ea typeface="Stylish" pitchFamily="2" charset="0"/>
              </a:rPr>
              <a:t>An immersive environment for yourself</a:t>
            </a:r>
            <a:endParaRPr lang="zh-TW" altLang="en-US" dirty="0">
              <a:latin typeface="Stylish" pitchFamily="2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2C643BC-54FE-7C29-BF7B-60498B852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Try to use as much as English as possible in every situation of your campus life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Switch the language </a:t>
            </a:r>
            <a:r>
              <a:rPr lang="en-US" altLang="zh-TW" dirty="0"/>
              <a:t>of your computer/phone to English</a:t>
            </a:r>
          </a:p>
          <a:p>
            <a:r>
              <a:rPr lang="en-US" altLang="zh-TW" dirty="0"/>
              <a:t>Find some good English </a:t>
            </a:r>
            <a:r>
              <a:rPr lang="en-US" altLang="zh-TW" dirty="0">
                <a:highlight>
                  <a:srgbClr val="FFFF00"/>
                </a:highlight>
              </a:rPr>
              <a:t>dictionaries</a:t>
            </a:r>
            <a:r>
              <a:rPr lang="en-US" altLang="zh-TW" dirty="0"/>
              <a:t> or browser extensions for translation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062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464CC4-F7BD-9389-DF8D-AC4E1C2C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76" y="286603"/>
            <a:ext cx="6875124" cy="1450757"/>
          </a:xfrm>
        </p:spPr>
        <p:txBody>
          <a:bodyPr>
            <a:normAutofit/>
          </a:bodyPr>
          <a:lstStyle/>
          <a:p>
            <a:r>
              <a:rPr lang="en-US" altLang="zh-TW" sz="4400" b="1" dirty="0">
                <a:latin typeface="+mn-lt"/>
                <a:ea typeface="STHupo" panose="02010800040101010101" pitchFamily="2" charset="-122"/>
              </a:rPr>
              <a:t>Don’t be afraid of mistakes</a:t>
            </a:r>
            <a:endParaRPr lang="zh-TW" altLang="en-US" sz="4400" dirty="0">
              <a:latin typeface="+mn-lt"/>
              <a:ea typeface="STHupo" panose="02010800040101010101" pitchFamily="2" charset="-122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ADAC2A-372F-7D77-6116-2C441BA3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666" y="2108201"/>
            <a:ext cx="6425852" cy="4463196"/>
          </a:xfrm>
        </p:spPr>
        <p:txBody>
          <a:bodyPr>
            <a:normAutofit/>
          </a:bodyPr>
          <a:lstStyle/>
          <a:p>
            <a:pPr lvl="1"/>
            <a:r>
              <a:rPr lang="en-US" altLang="zh-TW" sz="2400" dirty="0"/>
              <a:t>Mistakes are integral to your growth, without which there is no way to grow your language muscle.</a:t>
            </a:r>
          </a:p>
          <a:p>
            <a:pPr lvl="1"/>
            <a:r>
              <a:rPr lang="en-US" altLang="zh-TW" sz="2400" dirty="0"/>
              <a:t>Between the You at the moment, and the Future You, stands a journey seasoned with mistakes. </a:t>
            </a:r>
          </a:p>
          <a:p>
            <a:pPr lvl="1"/>
            <a:r>
              <a:rPr lang="en-US" altLang="zh-TW" sz="2400" dirty="0"/>
              <a:t>They are low stake in class, no penalty for making them in my class.</a:t>
            </a:r>
          </a:p>
          <a:p>
            <a:pPr lvl="1"/>
            <a:r>
              <a:rPr lang="en-US" altLang="zh-TW" sz="2400" dirty="0"/>
              <a:t>You will thank yourself for enduring the mistakes you make early on.</a:t>
            </a:r>
          </a:p>
          <a:p>
            <a:endParaRPr lang="zh-TW" altLang="en-US" sz="2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F51112-EDDB-1AC2-B671-DAF18C53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2026/9/10</a:t>
            </a:fld>
            <a:endParaRPr lang="en-US" dirty="0"/>
          </a:p>
        </p:txBody>
      </p:sp>
      <p:pic>
        <p:nvPicPr>
          <p:cNvPr id="1026" name="Picture 2" descr="Journey of growth poster">
            <a:extLst>
              <a:ext uri="{FF2B5EF4-FFF2-40B4-BE49-F238E27FC236}">
                <a16:creationId xmlns:a16="http://schemas.microsoft.com/office/drawing/2014/main" id="{1674690B-2876-2026-899A-EC7910B01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-46037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28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006163-8460-F59C-E728-50B49570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91468"/>
          </a:xfrm>
        </p:spPr>
        <p:txBody>
          <a:bodyPr/>
          <a:lstStyle/>
          <a:p>
            <a:r>
              <a:rPr lang="en-US" altLang="zh-TW" dirty="0">
                <a:latin typeface="Stylish" pitchFamily="2" charset="0"/>
                <a:ea typeface="Stylish" pitchFamily="2" charset="0"/>
              </a:rPr>
              <a:t>Schedule</a:t>
            </a:r>
            <a:endParaRPr lang="zh-TW" altLang="en-US" dirty="0">
              <a:latin typeface="Stylish" pitchFamily="2" charset="0"/>
            </a:endParaRP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2C1B1006-62F6-1068-A403-3B2D7421E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72651"/>
              </p:ext>
            </p:extLst>
          </p:nvPr>
        </p:nvGraphicFramePr>
        <p:xfrm>
          <a:off x="1573269" y="1740317"/>
          <a:ext cx="9106422" cy="4485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1840">
                  <a:extLst>
                    <a:ext uri="{9D8B030D-6E8A-4147-A177-3AD203B41FA5}">
                      <a16:colId xmlns:a16="http://schemas.microsoft.com/office/drawing/2014/main" val="3858986062"/>
                    </a:ext>
                  </a:extLst>
                </a:gridCol>
                <a:gridCol w="7314582">
                  <a:extLst>
                    <a:ext uri="{9D8B030D-6E8A-4147-A177-3AD203B41FA5}">
                      <a16:colId xmlns:a16="http://schemas.microsoft.com/office/drawing/2014/main" val="4224770021"/>
                    </a:ext>
                  </a:extLst>
                </a:gridCol>
              </a:tblGrid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Week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Content</a:t>
                      </a:r>
                      <a:endParaRPr lang="zh-TW" sz="22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9823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1-2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Working in IT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025744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3-4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IT Systems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3220006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5-6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Data communication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4673374"/>
                  </a:ext>
                </a:extLst>
              </a:tr>
              <a:tr h="35759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7</a:t>
                      </a:r>
                      <a:endParaRPr lang="zh-TW" sz="2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Administration</a:t>
                      </a:r>
                      <a:endParaRPr lang="zh-TW" sz="2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3986170"/>
                  </a:ext>
                </a:extLst>
              </a:tr>
              <a:tr h="3575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2200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Mid-term report</a:t>
                      </a:r>
                      <a:endParaRPr lang="zh-TW" altLang="en-US" sz="2200" kern="1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4775176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9-10</a:t>
                      </a:r>
                      <a:endParaRPr lang="zh-TW" altLang="en-US" sz="2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effectLst/>
                        </a:rPr>
                        <a:t>Development</a:t>
                      </a:r>
                      <a:endParaRPr lang="zh-TW" altLang="zh-TW" sz="2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860" marR="22860" marT="22860" marB="15240" anchor="ctr"/>
                </a:tc>
                <a:extLst>
                  <a:ext uri="{0D108BD9-81ED-4DB2-BD59-A6C34878D82A}">
                    <a16:rowId xmlns:a16="http://schemas.microsoft.com/office/drawing/2014/main" val="4168682152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11-12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solidFill>
                            <a:srgbClr val="000000"/>
                          </a:solidFill>
                          <a:effectLst/>
                        </a:rPr>
                        <a:t>Choice</a:t>
                      </a:r>
                      <a:endParaRPr lang="zh-TW" altLang="en-US" sz="2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2860" marR="22860" marT="22860" marB="15240" anchor="ctr"/>
                </a:tc>
                <a:extLst>
                  <a:ext uri="{0D108BD9-81ED-4DB2-BD59-A6C34878D82A}">
                    <a16:rowId xmlns:a16="http://schemas.microsoft.com/office/drawing/2014/main" val="1865475892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13-14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effectLst/>
                        </a:rPr>
                        <a:t>Interactions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6977653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15-16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Final Exam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80860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effectLst/>
                        </a:rPr>
                        <a:t>17-18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effectLst/>
                        </a:rPr>
                        <a:t>Interactive Group Project: Video/Audio Creation</a:t>
                      </a:r>
                      <a:endParaRPr lang="zh-TW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6405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82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F304DD-7442-74DA-672E-A7741F00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STKaiti" panose="02010600040101010101" pitchFamily="2" charset="-122"/>
                <a:ea typeface="STKaiti" panose="02010600040101010101" pitchFamily="2" charset="-122"/>
              </a:rPr>
              <a:t>Individual &amp; Group Work</a:t>
            </a:r>
            <a:endParaRPr lang="zh-TW" alt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D940E0-F13D-3933-52FF-7EF2AE01C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7675" indent="-355600">
              <a:buFont typeface="Wingdings" panose="05000000000000000000" pitchFamily="2" charset="2"/>
              <a:buChar char="p"/>
            </a:pPr>
            <a:r>
              <a:rPr lang="en-US" altLang="zh-TW" sz="2400" dirty="0"/>
              <a:t>Q&amp;As </a:t>
            </a:r>
            <a:r>
              <a:rPr lang="en-US" altLang="zh-TW" sz="2400"/>
              <a:t>are mostly individual, and pair-</a:t>
            </a:r>
            <a:endParaRPr lang="en-US" altLang="zh-TW" sz="2400" dirty="0"/>
          </a:p>
          <a:p>
            <a:pPr marL="447675" indent="-355600">
              <a:buFont typeface="Wingdings" panose="05000000000000000000" pitchFamily="2" charset="2"/>
              <a:buChar char="p"/>
            </a:pPr>
            <a:r>
              <a:rPr lang="en-US" altLang="zh-TW" sz="2400" dirty="0"/>
              <a:t>In-class discussion/report is generally conducted in pairs/trios/small groups (of </a:t>
            </a:r>
            <a:r>
              <a:rPr lang="en-US" altLang="zh-TW" sz="2400" dirty="0">
                <a:solidFill>
                  <a:srgbClr val="00B0F0"/>
                </a:solidFill>
              </a:rPr>
              <a:t>no more than 5 members each</a:t>
            </a:r>
            <a:r>
              <a:rPr lang="en-US" altLang="zh-TW" sz="2400" dirty="0"/>
              <a:t>)</a:t>
            </a:r>
          </a:p>
          <a:p>
            <a:pPr marL="447675" indent="-355600">
              <a:buFont typeface="Wingdings" panose="05000000000000000000" pitchFamily="2" charset="2"/>
              <a:buChar char="p"/>
            </a:pPr>
            <a:r>
              <a:rPr lang="en-US" altLang="zh-TW" sz="2400" dirty="0"/>
              <a:t>Assignments will be a mix of individual and group work</a:t>
            </a:r>
          </a:p>
          <a:p>
            <a:pPr marL="923163" lvl="2" indent="-355600">
              <a:buFont typeface="Wingdings" panose="05000000000000000000" pitchFamily="2" charset="2"/>
              <a:buChar char="p"/>
            </a:pPr>
            <a:r>
              <a:rPr lang="en-US" altLang="zh-TW" sz="1800" dirty="0">
                <a:solidFill>
                  <a:srgbClr val="00B0F0"/>
                </a:solidFill>
              </a:rPr>
              <a:t>Peer-assessment encouraged.</a:t>
            </a:r>
          </a:p>
          <a:p>
            <a:pPr marL="447675" indent="-355600">
              <a:buFont typeface="Wingdings" panose="05000000000000000000" pitchFamily="2" charset="2"/>
              <a:buChar char="p"/>
            </a:pPr>
            <a:r>
              <a:rPr lang="en-US" altLang="zh-TW" sz="2400" dirty="0"/>
              <a:t>Participation in the Discussion Board (</a:t>
            </a:r>
            <a:r>
              <a:rPr lang="en-US" altLang="zh-TW" sz="2400" dirty="0">
                <a:solidFill>
                  <a:srgbClr val="00B0F0"/>
                </a:solidFill>
              </a:rPr>
              <a:t>on portal</a:t>
            </a:r>
            <a:r>
              <a:rPr lang="en-US" altLang="zh-TW" sz="2400" dirty="0"/>
              <a:t>) highly encouraged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9C6A24-04BE-B24F-402C-F8775B168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2026/9/10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365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13FF0-5CFF-306D-B9E4-B3532595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Stylish" pitchFamily="2" charset="0"/>
                <a:ea typeface="Stylish" pitchFamily="2" charset="0"/>
              </a:rPr>
              <a:t>Grading</a:t>
            </a:r>
            <a:endParaRPr lang="zh-TW" altLang="en-US" dirty="0">
              <a:latin typeface="Stylish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4B68EC-AB48-298E-7D15-3FC04966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285" y="2417523"/>
            <a:ext cx="10282219" cy="375944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6275388" algn="l"/>
              </a:tabLst>
            </a:pPr>
            <a:r>
              <a:rPr lang="en-US" altLang="zh-TW" sz="2800" dirty="0"/>
              <a:t>1 Attendance &amp; Participation	30% </a:t>
            </a:r>
          </a:p>
          <a:p>
            <a:pPr marL="0" indent="0">
              <a:buNone/>
              <a:tabLst>
                <a:tab pos="6275388" algn="l"/>
              </a:tabLst>
            </a:pPr>
            <a:r>
              <a:rPr lang="en-US" altLang="zh-TW" sz="2800" dirty="0"/>
              <a:t>2 Assignments	20%</a:t>
            </a:r>
          </a:p>
          <a:p>
            <a:pPr marL="0" indent="0">
              <a:buNone/>
              <a:tabLst>
                <a:tab pos="6275388" algn="l"/>
              </a:tabLst>
            </a:pPr>
            <a:r>
              <a:rPr lang="en-US" altLang="zh-TW" sz="2800" dirty="0"/>
              <a:t>3 Mid-term exam	20%</a:t>
            </a:r>
          </a:p>
          <a:p>
            <a:pPr marL="0" indent="0">
              <a:buNone/>
              <a:tabLst>
                <a:tab pos="6275388" algn="l"/>
              </a:tabLst>
            </a:pPr>
            <a:r>
              <a:rPr lang="en-US" altLang="zh-TW" sz="2800" dirty="0"/>
              <a:t>4 Final exam 	30%</a:t>
            </a:r>
          </a:p>
          <a:p>
            <a:pPr marL="0" indent="0">
              <a:buNone/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30602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21EA89-719F-204D-CF23-CC87AA33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A quick survey</a:t>
            </a:r>
            <a:endParaRPr lang="zh-TW" altLang="en-US" dirty="0">
              <a:latin typeface="Calibri" panose="020F0502020204030204" pitchFamily="34" charset="0"/>
              <a:ea typeface="STKaiti" panose="0201060004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66CE45-0007-C83B-CB8F-18768205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2026/9/10</a:t>
            </a:fld>
            <a:endParaRPr 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A4D2AAA-C204-B712-2019-16E64E5F1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81778"/>
            <a:ext cx="5425440" cy="4276781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b="1" dirty="0"/>
              <a:t>What are you here for?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sz="1900" dirty="0">
                <a:highlight>
                  <a:srgbClr val="FFFF00"/>
                </a:highlight>
              </a:rPr>
              <a:t>A relaxed afternoon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sz="1900" dirty="0">
                <a:highlight>
                  <a:srgbClr val="FFFF00"/>
                </a:highlight>
              </a:rPr>
              <a:t>An adventure packed with challenges</a:t>
            </a:r>
            <a:endParaRPr lang="en-US" altLang="zh-TW" b="1" dirty="0"/>
          </a:p>
          <a:p>
            <a:r>
              <a:rPr lang="en-US" altLang="zh-TW" b="1" dirty="0"/>
              <a:t>What do you plan to improve most, 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dirty="0">
                <a:highlight>
                  <a:srgbClr val="FFFF00"/>
                </a:highlight>
              </a:rPr>
              <a:t>Reading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dirty="0">
                <a:highlight>
                  <a:srgbClr val="FFFF00"/>
                </a:highlight>
              </a:rPr>
              <a:t>Listening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dirty="0">
                <a:highlight>
                  <a:srgbClr val="FFFF00"/>
                </a:highlight>
              </a:rPr>
              <a:t>Writing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dirty="0">
                <a:highlight>
                  <a:srgbClr val="FFFF00"/>
                </a:highlight>
              </a:rPr>
              <a:t>Speaking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dirty="0">
                <a:highlight>
                  <a:srgbClr val="FFFF00"/>
                </a:highlight>
              </a:rPr>
              <a:t>All above</a:t>
            </a:r>
            <a:endParaRPr lang="en-US" altLang="zh-TW" dirty="0"/>
          </a:p>
          <a:p>
            <a:r>
              <a:rPr lang="en-US" altLang="zh-TW" b="1" dirty="0"/>
              <a:t>What language do you prefer the instructor to use for this course?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dirty="0">
                <a:highlight>
                  <a:srgbClr val="FFFF00"/>
                </a:highlight>
              </a:rPr>
              <a:t>English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dirty="0">
                <a:highlight>
                  <a:srgbClr val="FFFF00"/>
                </a:highlight>
              </a:rPr>
              <a:t>Chinese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dirty="0">
                <a:highlight>
                  <a:srgbClr val="FFFF00"/>
                </a:highlight>
              </a:rPr>
              <a:t>A mix of both?</a:t>
            </a:r>
            <a:endParaRPr lang="zh-TW" altLang="en-US" dirty="0">
              <a:highlight>
                <a:srgbClr val="FFFF00"/>
              </a:highlight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6D0060-46BB-0292-F280-132F762C6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000" y="1737360"/>
            <a:ext cx="3887315" cy="388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8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diom of the Week: Break the Ice – US Adult Literacy">
            <a:extLst>
              <a:ext uri="{FF2B5EF4-FFF2-40B4-BE49-F238E27FC236}">
                <a16:creationId xmlns:a16="http://schemas.microsoft.com/office/drawing/2014/main" id="{858969FF-9D6A-7D01-A83F-FC423EE4C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880" y="1897393"/>
            <a:ext cx="7172960" cy="451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0CCFA7-B254-C922-1B36-C812712C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STXinwei" panose="02010800040101010101" pitchFamily="2" charset="-122"/>
                <a:ea typeface="STXinwei" panose="02010800040101010101" pitchFamily="2" charset="-122"/>
              </a:rPr>
              <a:t>Break the ICE –</a:t>
            </a:r>
            <a:r>
              <a:rPr lang="en-US" altLang="zh-TW" dirty="0">
                <a:latin typeface="STKaiti" panose="02010600040101010101" pitchFamily="2" charset="-122"/>
                <a:ea typeface="STKaiti" panose="02010600040101010101" pitchFamily="2" charset="-122"/>
              </a:rPr>
              <a:t>A Self-introduction</a:t>
            </a:r>
            <a:endParaRPr lang="zh-TW" alt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6B747B-E56B-382D-6467-E6A7B9ECF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660546"/>
            <a:ext cx="3738880" cy="2595538"/>
          </a:xfrm>
        </p:spPr>
        <p:txBody>
          <a:bodyPr>
            <a:normAutofit/>
          </a:bodyPr>
          <a:lstStyle/>
          <a:p>
            <a:pPr marL="90488" indent="0">
              <a:buNone/>
            </a:pPr>
            <a:r>
              <a:rPr lang="en-US" altLang="zh-TW" sz="2400" i="1" dirty="0"/>
              <a:t>20 sec</a:t>
            </a:r>
            <a:endParaRPr lang="en-US" altLang="zh-TW" sz="2400" dirty="0"/>
          </a:p>
          <a:p>
            <a:pPr marL="433388" indent="-342900">
              <a:buFont typeface="Wingdings" panose="05000000000000000000" pitchFamily="2" charset="2"/>
              <a:buChar char="p"/>
            </a:pPr>
            <a:r>
              <a:rPr lang="en-US" altLang="zh-TW" sz="2400" dirty="0"/>
              <a:t>Your name, hometown, hobbies, etc.</a:t>
            </a:r>
          </a:p>
          <a:p>
            <a:pPr marL="433388" indent="-342900">
              <a:buFont typeface="Wingdings" panose="05000000000000000000" pitchFamily="2" charset="2"/>
              <a:buChar char="p"/>
            </a:pPr>
            <a:r>
              <a:rPr lang="en-US" altLang="zh-TW" sz="2400" dirty="0"/>
              <a:t>1or 2 </a:t>
            </a:r>
            <a:r>
              <a:rPr lang="en-US" altLang="zh-TW" sz="2400" dirty="0">
                <a:highlight>
                  <a:srgbClr val="FFFF00"/>
                </a:highlight>
              </a:rPr>
              <a:t>adjectives</a:t>
            </a:r>
            <a:r>
              <a:rPr lang="en-US" altLang="zh-TW" sz="2400" dirty="0"/>
              <a:t> to describe who you are.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C8C438-5846-DCFC-E53C-37551A4A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2026/9/10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617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7A1543-0E4E-959D-B071-750A2376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i="0" dirty="0">
                <a:solidFill>
                  <a:srgbClr val="2C5282"/>
                </a:solidFill>
                <a:effectLst/>
                <a:latin typeface="Georgia" panose="02040502050405020303" pitchFamily="18" charset="0"/>
              </a:rPr>
              <a:t>Table Talk — Small Group Intros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9DB73-3C0F-E155-BD1E-76AA7D740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723660" cy="4133573"/>
          </a:xfrm>
        </p:spPr>
        <p:txBody>
          <a:bodyPr>
            <a:normAutofit/>
          </a:bodyPr>
          <a:lstStyle/>
          <a:p>
            <a:pPr algn="l"/>
            <a:r>
              <a:rPr lang="en-US" altLang="zh-TW" sz="2400" b="1" i="0" cap="all" dirty="0">
                <a:solidFill>
                  <a:srgbClr val="276749"/>
                </a:solidFill>
                <a:effectLst/>
                <a:latin typeface="Helvetica Neue"/>
              </a:rPr>
              <a:t>1 Setup</a:t>
            </a:r>
          </a:p>
          <a:p>
            <a:pPr marL="201168" lvl="1" indent="0">
              <a:buNone/>
            </a:pPr>
            <a:r>
              <a:rPr lang="en-US" altLang="zh-TW" sz="2000" b="0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Form groups of 5–6 with the students sitting near you.</a:t>
            </a:r>
          </a:p>
          <a:p>
            <a:pPr algn="l"/>
            <a:r>
              <a:rPr lang="en-US" altLang="zh-TW" sz="2400" b="1" i="0" cap="all" dirty="0">
                <a:solidFill>
                  <a:srgbClr val="2B6CB0"/>
                </a:solidFill>
                <a:effectLst/>
                <a:latin typeface="Helvetica Neue"/>
              </a:rPr>
              <a:t>2 TEAM Building </a:t>
            </a:r>
          </a:p>
          <a:p>
            <a:pPr marL="201168" lvl="1" indent="0">
              <a:buNone/>
            </a:pPr>
            <a:r>
              <a:rPr lang="en-US" altLang="zh-TW" sz="2000" dirty="0">
                <a:solidFill>
                  <a:srgbClr val="2D3748"/>
                </a:solidFill>
                <a:latin typeface="Georgia" panose="02040502050405020303" pitchFamily="18" charset="0"/>
              </a:rPr>
              <a:t>Each person introduces themselves with three things:</a:t>
            </a:r>
          </a:p>
          <a:p>
            <a:pPr marL="932688" lvl="2" indent="-457200">
              <a:buFont typeface="+mj-lt"/>
              <a:buAutoNum type="arabicPeriod"/>
            </a:pPr>
            <a:r>
              <a:rPr lang="en-US" altLang="zh-TW" sz="1600" b="0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Your </a:t>
            </a:r>
            <a:r>
              <a:rPr lang="en-US" altLang="zh-TW" sz="1600" b="1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name</a:t>
            </a:r>
            <a:endParaRPr lang="en-US" altLang="zh-TW" sz="1600" b="0" i="0" dirty="0">
              <a:solidFill>
                <a:srgbClr val="2D3748"/>
              </a:solidFill>
              <a:effectLst/>
              <a:latin typeface="Georgia" panose="02040502050405020303" pitchFamily="18" charset="0"/>
            </a:endParaRPr>
          </a:p>
          <a:p>
            <a:pPr marL="932688" lvl="2" indent="-457200">
              <a:buFont typeface="+mj-lt"/>
              <a:buAutoNum type="arabicPeriod"/>
            </a:pPr>
            <a:r>
              <a:rPr lang="en-US" altLang="zh-TW" sz="1600" b="0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One thing you're </a:t>
            </a:r>
            <a:r>
              <a:rPr lang="en-US" altLang="zh-TW" sz="1600" b="1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good at</a:t>
            </a:r>
            <a:r>
              <a:rPr lang="en-US" altLang="zh-TW" sz="1600" b="0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 (IT-related or not)</a:t>
            </a:r>
          </a:p>
          <a:p>
            <a:pPr marL="932688" lvl="2" indent="-457200">
              <a:buFont typeface="+mj-lt"/>
              <a:buAutoNum type="arabicPeriod"/>
            </a:pPr>
            <a:r>
              <a:rPr lang="en-US" altLang="zh-TW" sz="1600" b="0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One thing you </a:t>
            </a:r>
            <a:r>
              <a:rPr lang="en-US" altLang="zh-TW" sz="1600" b="1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suck at</a:t>
            </a:r>
            <a:r>
              <a:rPr lang="en-US" altLang="zh-TW" sz="1600" b="0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 (IT-related or not)</a:t>
            </a:r>
          </a:p>
          <a:p>
            <a:pPr algn="l"/>
            <a:r>
              <a:rPr lang="en-US" altLang="zh-TW" sz="2400" b="1" i="0" cap="all" dirty="0">
                <a:solidFill>
                  <a:srgbClr val="9933FF"/>
                </a:solidFill>
                <a:effectLst/>
                <a:latin typeface="Helvetica Neue"/>
              </a:rPr>
              <a:t>3 SHARE TIME</a:t>
            </a:r>
          </a:p>
          <a:p>
            <a:pPr marL="201168" lvl="1" indent="0">
              <a:buNone/>
            </a:pPr>
            <a:r>
              <a:rPr lang="en-US" altLang="zh-TW" sz="2000" b="0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Each group appoints a member to share </a:t>
            </a:r>
            <a:r>
              <a:rPr lang="en-US" altLang="zh-TW" sz="2000" b="1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the memorable introduction(s)</a:t>
            </a:r>
            <a:r>
              <a:rPr lang="en-US" altLang="zh-TW" sz="2000" b="0" i="0" dirty="0">
                <a:solidFill>
                  <a:srgbClr val="2D3748"/>
                </a:solidFill>
                <a:effectLst/>
                <a:latin typeface="Georgia" panose="02040502050405020303" pitchFamily="18" charset="0"/>
              </a:rPr>
              <a:t> of the group.</a:t>
            </a:r>
            <a:endParaRPr lang="zh-TW" altLang="en-US" sz="2000" dirty="0"/>
          </a:p>
          <a:p>
            <a:pPr algn="l"/>
            <a:endParaRPr lang="en-US" altLang="zh-TW" sz="2400" b="0" i="0" dirty="0">
              <a:solidFill>
                <a:srgbClr val="2D3748"/>
              </a:solidFill>
              <a:effectLst/>
              <a:latin typeface="Georgia" panose="02040502050405020303" pitchFamily="18" charset="0"/>
            </a:endParaRPr>
          </a:p>
          <a:p>
            <a:endParaRPr lang="zh-TW" altLang="en-US" sz="24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2E2D17-5E51-6FC8-2C47-471B7ED5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2026/9/10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73543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{37E69328-BF55-448F-BC7C-8D48598C2492}tf56160789_win32</Template>
  <TotalTime>0</TotalTime>
  <Words>572</Words>
  <Application>Microsoft Office PowerPoint</Application>
  <PresentationFormat>寬螢幕</PresentationFormat>
  <Paragraphs>109</Paragraphs>
  <Slides>16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31" baseType="lpstr">
      <vt:lpstr>Helvetica Neue</vt:lpstr>
      <vt:lpstr>Microsoft JhengHei UI</vt:lpstr>
      <vt:lpstr>STKaiti</vt:lpstr>
      <vt:lpstr>STXihei</vt:lpstr>
      <vt:lpstr>STXinwei</vt:lpstr>
      <vt:lpstr>Yu Gothic UI</vt:lpstr>
      <vt:lpstr>MingLiu</vt:lpstr>
      <vt:lpstr>Arial</vt:lpstr>
      <vt:lpstr>Calibri</vt:lpstr>
      <vt:lpstr>Cambria</vt:lpstr>
      <vt:lpstr>Georgia</vt:lpstr>
      <vt:lpstr>Stylish</vt:lpstr>
      <vt:lpstr>Times New Roman</vt:lpstr>
      <vt:lpstr>Wingdings</vt:lpstr>
      <vt:lpstr>1_RetrospectVTI</vt:lpstr>
      <vt:lpstr>English for Information Technology</vt:lpstr>
      <vt:lpstr>Luke Miao</vt:lpstr>
      <vt:lpstr>Textbooks &amp; Materials</vt:lpstr>
      <vt:lpstr>Online Resources</vt:lpstr>
      <vt:lpstr>Online Resources</vt:lpstr>
      <vt:lpstr>Optional Online Resources</vt:lpstr>
      <vt:lpstr>Optional Online Resources</vt:lpstr>
      <vt:lpstr>Ready for some challenges?</vt:lpstr>
      <vt:lpstr>An immersive environment for yourself</vt:lpstr>
      <vt:lpstr>Don’t be afraid of mistakes</vt:lpstr>
      <vt:lpstr>Schedule</vt:lpstr>
      <vt:lpstr>Individual &amp; Group Work</vt:lpstr>
      <vt:lpstr>Grading</vt:lpstr>
      <vt:lpstr>A quick survey</vt:lpstr>
      <vt:lpstr>Break the ICE –A Self-introduction</vt:lpstr>
      <vt:lpstr>Table Talk — Small Group Intros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Miao</dc:creator>
  <cp:lastModifiedBy>繆強(Miao Qiang)</cp:lastModifiedBy>
  <cp:revision>22</cp:revision>
  <dcterms:created xsi:type="dcterms:W3CDTF">2025-09-08T16:31:02Z</dcterms:created>
  <dcterms:modified xsi:type="dcterms:W3CDTF">2026-09-09T18:00:28Z</dcterms:modified>
</cp:coreProperties>
</file>