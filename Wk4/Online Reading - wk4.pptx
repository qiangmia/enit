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14"/>
  </p:notesMasterIdLst>
  <p:handoutMasterIdLst>
    <p:handoutMasterId r:id="rId15"/>
  </p:handoutMasterIdLst>
  <p:sldIdLst>
    <p:sldId id="257" r:id="rId2"/>
    <p:sldId id="287" r:id="rId3"/>
    <p:sldId id="289" r:id="rId4"/>
    <p:sldId id="277" r:id="rId5"/>
    <p:sldId id="284" r:id="rId6"/>
    <p:sldId id="283" r:id="rId7"/>
    <p:sldId id="290" r:id="rId8"/>
    <p:sldId id="291" r:id="rId9"/>
    <p:sldId id="292" r:id="rId10"/>
    <p:sldId id="293" r:id="rId11"/>
    <p:sldId id="294" r:id="rId12"/>
    <p:sldId id="266" r:id="rId13"/>
  </p:sldIdLst>
  <p:sldSz cx="12192000" cy="6858000"/>
  <p:notesSz cx="6858000" cy="9144000"/>
  <p:defaultTextStyle>
    <a:defPPr rtl="0"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52AAF9F1-E50B-45AB-9DDD-AEB2F95F53E1}">
          <p14:sldIdLst>
            <p14:sldId id="257"/>
            <p14:sldId id="287"/>
            <p14:sldId id="289"/>
            <p14:sldId id="277"/>
            <p14:sldId id="284"/>
            <p14:sldId id="283"/>
            <p14:sldId id="290"/>
            <p14:sldId id="291"/>
            <p14:sldId id="292"/>
            <p14:sldId id="293"/>
            <p14:sldId id="294"/>
            <p14:sldId id="266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933FF"/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143" autoAdjust="0"/>
    <p:restoredTop sz="94198" autoAdjust="0"/>
  </p:normalViewPr>
  <p:slideViewPr>
    <p:cSldViewPr snapToGrid="0">
      <p:cViewPr>
        <p:scale>
          <a:sx n="75" d="100"/>
          <a:sy n="75" d="100"/>
        </p:scale>
        <p:origin x="1243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3" d="100"/>
          <a:sy n="123" d="100"/>
        </p:scale>
        <p:origin x="4974" y="9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預留位置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550261E5-B7A8-407C-8EC1-76B17CEB3BFC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投影片編號預留位置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950AEE62-6B03-446E-B028-1F2C67AA2CBE}" type="datetime1">
              <a:rPr lang="zh-TW" altLang="en-US" smtClean="0"/>
              <a:t>2025/10/2</a:t>
            </a:fld>
            <a:endParaRPr 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備忘稿預留位置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zh-tw"/>
              <a:t>按一下以編輯母片文字樣式</a:t>
            </a:r>
            <a:endParaRPr lang="en-US"/>
          </a:p>
          <a:p>
            <a:pPr lvl="1" rtl="0"/>
            <a:r>
              <a:rPr lang="zh-tw"/>
              <a:t>第二層</a:t>
            </a:r>
          </a:p>
          <a:p>
            <a:pPr lvl="2" rtl="0"/>
            <a:r>
              <a:rPr lang="zh-tw"/>
              <a:t>第三層</a:t>
            </a:r>
          </a:p>
          <a:p>
            <a:pPr lvl="3" rtl="0"/>
            <a:r>
              <a:rPr lang="zh-tw"/>
              <a:t>第四層</a:t>
            </a:r>
          </a:p>
          <a:p>
            <a:pPr lvl="4" rtl="0"/>
            <a:r>
              <a:rPr lang="zh-tw"/>
              <a:t>第五層</a:t>
            </a:r>
            <a:endParaRPr lang="en-US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2025/10/2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62796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2025/10/2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8137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2025/10/2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432009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2025/10/2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286001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pPr rtl="0"/>
            <a:fld id="{950AEE62-6B03-446E-B028-1F2C67AA2CBE}" type="datetime1">
              <a:rPr lang="zh-TW" altLang="en-US" smtClean="0"/>
              <a:t>2025/10/2</a:t>
            </a:fld>
            <a:endParaRPr 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rtl="0"/>
            <a:fld id="{9C2B151B-D7D1-48E5-8230-5AADBC794F88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16985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zh-TW" altLang="en-US"/>
              <a:t>按一下以編輯母片子標題樣式</a:t>
            </a:r>
            <a:endParaRPr lang="en-US" dirty="0"/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1E8D126-38DE-467F-A065-2775F6C58740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投影片編號預留位置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章節標題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cxnSp>
        <p:nvCxnSpPr>
          <p:cNvPr id="9" name="直線接點​​(S)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3FBF2AB9-D521-429F-BA9E-A2DD356AF2DF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投影片編號版面配置區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標題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748A74C-3BFC-4F64-9D88-E80E3E32994C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9" name="頁尾版面配置區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預留位置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標題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預留位置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文字預留位置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預留位置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0166BAE-2749-48CF-A2DD-C010F9F8CC67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11" name="頁尾版面配置區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投影片編號預留位置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6" name="日期版面配置區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2EB3E87-0960-43A6-B33B-AB6B15A82628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7" name="頁尾版面配置區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投影片編號預留位置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0A92F8F0-693D-4EF4-BEF5-7FD95F4C1D80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投影片編號預留位置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內容預留位置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4E96419C-65CA-4A96-8C8D-1B83D1EEA06C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投影片編號預留位置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圖片預留位置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文字預留位置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55B0D56E-A8D9-4835-9121-D0F2B7B922B1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6" name="頁尾預留位置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AD90E0D-C35F-4A14-A7E8-7670CE6639F2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投影片編號預留位置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直排文字預留位置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zh-TW" altLang="en-US"/>
              <a:t>按一下以編輯母片文字樣式</a:t>
            </a:r>
          </a:p>
          <a:p>
            <a:pPr lvl="1" rtl="0"/>
            <a:r>
              <a:rPr lang="zh-TW" altLang="en-US"/>
              <a:t>第二層</a:t>
            </a:r>
          </a:p>
          <a:p>
            <a:pPr lvl="2" rtl="0"/>
            <a:r>
              <a:rPr lang="zh-TW" altLang="en-US"/>
              <a:t>第三層</a:t>
            </a:r>
          </a:p>
          <a:p>
            <a:pPr lvl="3" rtl="0"/>
            <a:r>
              <a:rPr lang="zh-TW" altLang="en-US"/>
              <a:t>第四層</a:t>
            </a:r>
          </a:p>
          <a:p>
            <a:pPr lvl="4" rtl="0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2E02858-A2D1-43A3-9BDC-80D1F48AA51B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投影片編號版面配置區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zh-tw" dirty="0"/>
              <a:t>按一下以編輯母片標題樣式</a:t>
            </a:r>
            <a:endParaRPr lang="en-US" dirty="0"/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zh-tw" dirty="0"/>
              <a:t>按一下以編輯母片文字樣式</a:t>
            </a:r>
          </a:p>
          <a:p>
            <a:pPr lvl="1" rtl="0"/>
            <a:r>
              <a:rPr lang="zh-tw" dirty="0"/>
              <a:t>第二層</a:t>
            </a:r>
          </a:p>
          <a:p>
            <a:pPr lvl="2" rtl="0"/>
            <a:r>
              <a:rPr lang="zh-tw" dirty="0"/>
              <a:t>第三層</a:t>
            </a:r>
          </a:p>
          <a:p>
            <a:pPr lvl="3" rtl="0"/>
            <a:r>
              <a:rPr lang="zh-tw" dirty="0"/>
              <a:t>第四層</a:t>
            </a:r>
          </a:p>
          <a:p>
            <a:pPr lvl="4" rtl="0"/>
            <a:r>
              <a:rPr lang="zh-tw" dirty="0"/>
              <a:t>第五層</a:t>
            </a:r>
            <a:endParaRPr 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86D72111-2BF8-49E3-AA06-55BC47AB46EA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5" name="頁尾預留位置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endParaRPr lang="en-US" dirty="0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10" name="直線接點​​(S)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MingLiu" panose="02020509000000000000" pitchFamily="49" charset="-120"/>
          <a:ea typeface="MingLiu" panose="02020509000000000000" pitchFamily="49" charset="-120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www.bbc.co.uk/learningenglish/english/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www.bbc.co.uk/learningenglish/english/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bbc.co.uk/learningenglish/english/features/6-minute-english_2024/ep-241219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bbc.co.uk/learningenglish/english/features/6-minute-english_2024/ep-241219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tinyurl.com/y24eshfs" TargetMode="Externa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netacad.com/launch?id=10349eca-196c-4047-9c86-6dc1da4601f6&amp;tab=curriculum&amp;view=02e500cc-28e7-5b0c-95bd-69fa769d3491" TargetMode="External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矩形 21">
            <a:extLst>
              <a:ext uri="{FF2B5EF4-FFF2-40B4-BE49-F238E27FC236}">
                <a16:creationId xmlns:a16="http://schemas.microsoft.com/office/drawing/2014/main" id="{A9286AD2-18A9-4868-A4E3-7A2097A208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2001" cy="685799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en-US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78FD68DA-43BA-4508-8DE2-BA9BB7B2FA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285984" y="1100030"/>
            <a:ext cx="6273116" cy="3225082"/>
          </a:xfrm>
        </p:spPr>
        <p:txBody>
          <a:bodyPr rtlCol="0">
            <a:normAutofit/>
          </a:bodyPr>
          <a:lstStyle/>
          <a:p>
            <a:r>
              <a:rPr lang="en-US" altLang="zh-TW" sz="6600" b="1" dirty="0">
                <a:solidFill>
                  <a:srgbClr val="0070C0"/>
                </a:solidFill>
                <a:latin typeface="STKaiti" panose="02010600040101010101" pitchFamily="2" charset="-122"/>
                <a:ea typeface="STKaiti" panose="02010600040101010101" pitchFamily="2" charset="-122"/>
              </a:rPr>
              <a:t>English for Information Technology</a:t>
            </a:r>
            <a:endParaRPr lang="zh-tw" sz="6600" dirty="0">
              <a:solidFill>
                <a:srgbClr val="0070C0"/>
              </a:solidFill>
              <a:latin typeface="STKaiti" panose="02010600040101010101" pitchFamily="2" charset="-122"/>
              <a:ea typeface="STKaiti" panose="02010600040101010101" pitchFamily="2" charset="-122"/>
            </a:endParaRP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A8E9CFF2-3777-4FF4-A759-8491175B0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427754" y="4672739"/>
            <a:ext cx="6131346" cy="1021498"/>
          </a:xfrm>
        </p:spPr>
        <p:txBody>
          <a:bodyPr rtlCol="0">
            <a:normAutofit/>
          </a:bodyPr>
          <a:lstStyle/>
          <a:p>
            <a:pPr rtl="0"/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Dept of information management, </a:t>
            </a:r>
            <a:r>
              <a:rPr lang="en-US" altLang="zh-TW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Yuanze</a:t>
            </a:r>
            <a:r>
              <a:rPr lang="en-US" altLang="zh-TW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University</a:t>
            </a:r>
            <a:endParaRPr lang="zh-tw" sz="24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5" name="圖片 4" descr="含有建築物、坐下、板凳、側面的圖片&#10;&#10;自動產生的描述">
            <a:extLst>
              <a:ext uri="{FF2B5EF4-FFF2-40B4-BE49-F238E27FC236}">
                <a16:creationId xmlns:a16="http://schemas.microsoft.com/office/drawing/2014/main" id="{282CF6DD-7FE8-4063-9551-1B7BBCE92AB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-1" y="1"/>
            <a:ext cx="4968657" cy="6857999"/>
          </a:xfrm>
          <a:prstGeom prst="rect">
            <a:avLst/>
          </a:prstGeom>
        </p:spPr>
      </p:pic>
      <p:cxnSp>
        <p:nvCxnSpPr>
          <p:cNvPr id="24" name="直線接點​​(S) 23">
            <a:extLst>
              <a:ext uri="{FF2B5EF4-FFF2-40B4-BE49-F238E27FC236}">
                <a16:creationId xmlns:a16="http://schemas.microsoft.com/office/drawing/2014/main" id="{E7A7CD63-7EC3-44F3-95D0-595C4019F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27754" y="4498925"/>
            <a:ext cx="5636107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5739B2C-D4C0-AE14-8636-53A49D03136C}"/>
              </a:ext>
            </a:extLst>
          </p:cNvPr>
          <p:cNvSpPr txBox="1"/>
          <p:nvPr/>
        </p:nvSpPr>
        <p:spPr>
          <a:xfrm>
            <a:off x="1520624" y="4183214"/>
            <a:ext cx="115944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FF0000"/>
                </a:solidFill>
                <a:highlight>
                  <a:srgbClr val="FFFF00"/>
                </a:highlight>
              </a:rPr>
              <a:t>Week</a:t>
            </a:r>
            <a:r>
              <a:rPr lang="en-US" sz="2000" dirty="0">
                <a:solidFill>
                  <a:srgbClr val="FF0000"/>
                </a:solidFill>
              </a:rPr>
              <a:t> </a:t>
            </a:r>
          </a:p>
          <a:p>
            <a:pPr algn="ctr"/>
            <a:r>
              <a:rPr lang="en-US" sz="8000" dirty="0">
                <a:solidFill>
                  <a:srgbClr val="FF0000"/>
                </a:solidFill>
                <a:highlight>
                  <a:srgbClr val="FFFF00"/>
                </a:highlight>
              </a:rPr>
              <a:t>4</a:t>
            </a:r>
            <a:endParaRPr lang="en-US" sz="8800" dirty="0">
              <a:solidFill>
                <a:srgbClr val="FF0000"/>
              </a:solidFill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04373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AAD0-D39B-FD32-0C82-F9BC729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7506"/>
            <a:ext cx="1077976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BBC Learning English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171D4-C3A5-B6BA-24D8-F2EF4AEA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431929C7-417E-1498-B81E-1A0D908C582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9960" y="2131916"/>
            <a:ext cx="8306959" cy="1971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53891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79CAAD0-D39B-FD32-0C82-F9BC7295EA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6400" y="497506"/>
            <a:ext cx="1077976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  <a:hlinkClick r:id="rId2"/>
              </a:rPr>
              <a:t>BBC Learning English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A3171D4-C3A5-B6BA-24D8-F2EF4AEA11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8DEA198C-027A-44E7-17BD-CA0302EED0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451156"/>
            <a:ext cx="5323840" cy="2247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54254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Online resources for today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F34B455-DEED-E592-F9C2-3E86001B43C0}"/>
              </a:ext>
            </a:extLst>
          </p:cNvPr>
          <p:cNvSpPr txBox="1"/>
          <p:nvPr/>
        </p:nvSpPr>
        <p:spPr>
          <a:xfrm>
            <a:off x="1161908" y="1944650"/>
            <a:ext cx="4193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2"/>
              </a:rPr>
              <a:t>Original</a:t>
            </a:r>
            <a:r>
              <a:rPr lang="zh-TW" altLang="en-US" dirty="0">
                <a:hlinkClick r:id="rId2"/>
              </a:rPr>
              <a:t> </a:t>
            </a:r>
            <a:r>
              <a:rPr lang="en-US" altLang="zh-TW" dirty="0">
                <a:hlinkClick r:id="rId2"/>
              </a:rPr>
              <a:t>Article</a:t>
            </a:r>
            <a:endParaRPr lang="zh-TW" alt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92A6FA49-0979-672E-94AB-1C66C9E533A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4897" y="2505891"/>
            <a:ext cx="3467100" cy="3467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E54F7E2B-D950-814D-23DB-10836EE6CA2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05993" y="2129316"/>
            <a:ext cx="5113977" cy="38990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62034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C20C0E6-D6C1-79AF-99DE-52A80C592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Listen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1E40B416-9273-FA26-2649-61181B781FE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976880"/>
            <a:ext cx="10058400" cy="2892212"/>
          </a:xfrm>
        </p:spPr>
        <p:txBody>
          <a:bodyPr>
            <a:normAutofit fontScale="92500" lnSpcReduction="20000"/>
          </a:bodyPr>
          <a:lstStyle/>
          <a:p>
            <a:r>
              <a:rPr lang="zh-TW" altLang="en-US" dirty="0">
                <a:solidFill>
                  <a:srgbClr val="0070C0"/>
                </a:solidFill>
                <a:latin typeface="Inter"/>
              </a:rPr>
              <a:t>對話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討論了人工智慧（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AI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）對電話客服中心工作的影響。</a:t>
            </a:r>
            <a:endParaRPr lang="en-US" altLang="zh-TW" b="0" i="0" dirty="0">
              <a:solidFill>
                <a:srgbClr val="0070C0"/>
              </a:solidFill>
              <a:effectLst/>
              <a:latin typeface="Inter"/>
            </a:endParaRPr>
          </a:p>
          <a:p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當人們打電話給公司並被要求等待時，通常會感到沮喪。</a:t>
            </a:r>
            <a:endParaRPr lang="en-US" altLang="zh-TW" b="0" i="0" dirty="0">
              <a:solidFill>
                <a:srgbClr val="0070C0"/>
              </a:solidFill>
              <a:effectLst/>
              <a:latin typeface="Inter"/>
            </a:endParaRPr>
          </a:p>
          <a:p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傳統上，客服人員會處理這些問題，但現在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AI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正逐漸取代這項工作，這對印度和菲律賓等依賴客服中心產業的國家造成了問題。</a:t>
            </a:r>
            <a:endParaRPr lang="en-US" altLang="zh-TW" b="0" i="0" dirty="0">
              <a:solidFill>
                <a:srgbClr val="0070C0"/>
              </a:solidFill>
              <a:effectLst/>
              <a:latin typeface="Inter"/>
            </a:endParaRPr>
          </a:p>
          <a:p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菲律賓客服中心工會主席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Mylene </a:t>
            </a:r>
            <a:r>
              <a:rPr lang="en-US" altLang="zh-TW" b="0" i="0" dirty="0" err="1">
                <a:solidFill>
                  <a:srgbClr val="0070C0"/>
                </a:solidFill>
                <a:effectLst/>
                <a:latin typeface="Inter"/>
              </a:rPr>
              <a:t>Cabalona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表達了她對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AI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將取代人類工作的擔憂，並指出客服工作壓力大，因為要應對憤怒的客戶，同時還要被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AI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監控。</a:t>
            </a:r>
            <a:endParaRPr lang="en-US" altLang="zh-TW" b="0" i="0" dirty="0">
              <a:solidFill>
                <a:srgbClr val="0070C0"/>
              </a:solidFill>
              <a:effectLst/>
              <a:latin typeface="Inter"/>
            </a:endParaRPr>
          </a:p>
          <a:p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她引用一項研究，稱約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27%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的客服人員可能因此失業。然而，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Mylene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認為</a:t>
            </a:r>
            <a:r>
              <a:rPr lang="en-US" altLang="zh-TW" b="0" i="0" dirty="0">
                <a:solidFill>
                  <a:srgbClr val="0070C0"/>
                </a:solidFill>
                <a:effectLst/>
                <a:latin typeface="Inter"/>
              </a:rPr>
              <a:t>AI</a:t>
            </a:r>
            <a:r>
              <a:rPr lang="zh-TW" altLang="en-US" b="0" i="0" dirty="0">
                <a:solidFill>
                  <a:srgbClr val="0070C0"/>
                </a:solidFill>
                <a:effectLst/>
                <a:latin typeface="Inter"/>
              </a:rPr>
              <a:t>無法完全取代人類，因為它缺乏同理心，這是人類獨有的重要特質。</a:t>
            </a:r>
            <a:endParaRPr lang="en-US" altLang="zh-TW" dirty="0">
              <a:solidFill>
                <a:srgbClr val="0070C0"/>
              </a:solidFill>
              <a:latin typeface="Arial" panose="020B0604020202020204" pitchFamily="34" charset="0"/>
            </a:endParaRP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94F3CA6-4582-6B5B-D411-1FF5A66990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AD7AE472-6C6B-1B91-4A87-379265639A34}"/>
              </a:ext>
            </a:extLst>
          </p:cNvPr>
          <p:cNvSpPr txBox="1"/>
          <p:nvPr/>
        </p:nvSpPr>
        <p:spPr>
          <a:xfrm>
            <a:off x="1097280" y="2291309"/>
            <a:ext cx="41938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2"/>
              </a:rPr>
              <a:t>Let’s listen to the original video</a:t>
            </a:r>
            <a:r>
              <a:rPr lang="zh-TW" altLang="en-US" dirty="0">
                <a:hlinkClick r:id="rId2"/>
              </a:rPr>
              <a:t> 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692463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F127CEE-65AE-0016-1F6A-E6471CD73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Vocabulary</a:t>
            </a:r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3EFA33-D942-484B-C923-62FFF16C69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1954924"/>
            <a:ext cx="5265683" cy="4491914"/>
          </a:xfrm>
        </p:spPr>
        <p:txBody>
          <a:bodyPr>
            <a:noAutofit/>
          </a:bodyPr>
          <a:lstStyle/>
          <a:p>
            <a:pPr algn="l"/>
            <a:r>
              <a:rPr lang="en-US" altLang="zh-TW" sz="1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Queue</a:t>
            </a:r>
            <a:br>
              <a:rPr lang="en-US" altLang="zh-TW" sz="1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sz="1200" b="1" dirty="0">
                <a:solidFill>
                  <a:srgbClr val="00ADB5"/>
                </a:solidFill>
                <a:latin typeface="Inter"/>
              </a:rPr>
              <a:t>Definition:</a:t>
            </a:r>
            <a: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 A line of people or things waiting for their turn.</a:t>
            </a:r>
            <a:b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sz="1200" b="1" dirty="0">
                <a:solidFill>
                  <a:srgbClr val="00ADB5"/>
                </a:solidFill>
                <a:latin typeface="Inter"/>
              </a:rPr>
              <a:t>Example: </a:t>
            </a:r>
            <a: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"I had to wait in a long queue at the supermarket checkout."---</a:t>
            </a:r>
          </a:p>
          <a:p>
            <a:pPr algn="l"/>
            <a:r>
              <a:rPr lang="en-US" altLang="zh-TW" sz="1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Frustrated</a:t>
            </a:r>
            <a:br>
              <a:rPr lang="en-US" altLang="zh-TW" sz="1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sz="1200" b="1" dirty="0">
                <a:solidFill>
                  <a:srgbClr val="00ADB5"/>
                </a:solidFill>
                <a:latin typeface="Inter"/>
              </a:rPr>
              <a:t>Definition</a:t>
            </a:r>
            <a: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Feeling annoyed or impatient because you are unable to achieve something.</a:t>
            </a:r>
            <a:b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sz="1200" b="1" dirty="0">
                <a:solidFill>
                  <a:srgbClr val="00ADB5"/>
                </a:solidFill>
                <a:latin typeface="Inter"/>
              </a:rPr>
              <a:t>Example</a:t>
            </a:r>
            <a: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"He felt frustrated when his computer crashed and he lost all his work."---</a:t>
            </a:r>
          </a:p>
          <a:p>
            <a:pPr algn="l"/>
            <a:r>
              <a:rPr lang="en-US" altLang="zh-TW" sz="1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artificial intelligence (AI)</a:t>
            </a:r>
            <a:br>
              <a:rPr lang="en-US" altLang="zh-TW" sz="1200" b="1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sz="1200" b="1" dirty="0">
                <a:solidFill>
                  <a:srgbClr val="00ADB5"/>
                </a:solidFill>
                <a:latin typeface="Inter"/>
              </a:rPr>
              <a:t>Definition</a:t>
            </a:r>
            <a: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Computer systems that can do things that usually require human thinking, like understanding language or solving problems.</a:t>
            </a:r>
            <a:b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</a:br>
            <a:r>
              <a:rPr lang="en-US" altLang="zh-TW" sz="1200" b="1" dirty="0">
                <a:solidFill>
                  <a:srgbClr val="00ADB5"/>
                </a:solidFill>
                <a:latin typeface="Inter"/>
              </a:rPr>
              <a:t>Example</a:t>
            </a:r>
            <a:r>
              <a:rPr lang="en-US" altLang="zh-TW" sz="1200" i="0" dirty="0">
                <a:solidFill>
                  <a:srgbClr val="333333"/>
                </a:solidFill>
                <a:effectLst/>
                <a:latin typeface="Arial" panose="020B0604020202020204" pitchFamily="34" charset="0"/>
              </a:rPr>
              <a:t>: "Many modern smartphones use artificial intelligence for features like voice assistants."---</a:t>
            </a:r>
          </a:p>
          <a:p>
            <a:r>
              <a:rPr lang="en-US" altLang="zh-TW" sz="1200" b="1" i="0" dirty="0">
                <a:solidFill>
                  <a:schemeClr val="tx1"/>
                </a:solidFill>
                <a:effectLst/>
                <a:latin typeface="Inter"/>
              </a:rPr>
              <a:t>Aggravated</a:t>
            </a:r>
            <a:br>
              <a:rPr lang="en-US" altLang="zh-TW" sz="1200" b="1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Definition</a:t>
            </a:r>
            <a:r>
              <a:rPr lang="en-US" altLang="zh-TW" sz="1200" i="0" dirty="0">
                <a:solidFill>
                  <a:schemeClr val="tx1"/>
                </a:solidFill>
                <a:effectLst/>
                <a:latin typeface="Inter"/>
              </a:rPr>
              <a:t>: Made to feel angry or annoyed, especially by a situation or person.</a:t>
            </a:r>
            <a:br>
              <a:rPr lang="en-US" altLang="zh-TW" sz="1200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Example</a:t>
            </a:r>
            <a:r>
              <a:rPr lang="en-US" altLang="zh-TW" sz="1200" i="0" dirty="0">
                <a:solidFill>
                  <a:schemeClr val="tx1"/>
                </a:solidFill>
                <a:effectLst/>
                <a:latin typeface="Inter"/>
              </a:rPr>
              <a:t>: "The long wait on the phone made the customer even more aggravated."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D5580A8-EF0E-4E40-3439-77EC6B89C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  <p:sp>
        <p:nvSpPr>
          <p:cNvPr id="5" name="內容版面配置區 2">
            <a:extLst>
              <a:ext uri="{FF2B5EF4-FFF2-40B4-BE49-F238E27FC236}">
                <a16:creationId xmlns:a16="http://schemas.microsoft.com/office/drawing/2014/main" id="{582A5435-B465-A95A-B5A3-BD74142A9DCA}"/>
              </a:ext>
            </a:extLst>
          </p:cNvPr>
          <p:cNvSpPr txBox="1">
            <a:spLocks/>
          </p:cNvSpPr>
          <p:nvPr/>
        </p:nvSpPr>
        <p:spPr>
          <a:xfrm>
            <a:off x="6640436" y="1917086"/>
            <a:ext cx="5265683" cy="4418400"/>
          </a:xfrm>
          <a:prstGeom prst="rect">
            <a:avLst/>
          </a:prstGeom>
        </p:spPr>
        <p:txBody>
          <a:bodyPr vert="horz" lIns="0" tIns="45720" rIns="0" bIns="45720" rtlCol="0">
            <a:normAutofit fontScale="92500" lnSpcReduction="20000"/>
          </a:bodyPr>
          <a:lstStyle>
            <a:lvl1pPr marL="91440" indent="-91440" algn="l" defTabSz="914400" rtl="0" eaLnBrk="1" latinLnBrk="0" hangingPunct="1">
              <a:lnSpc>
                <a:spcPct val="110000"/>
              </a:lnSpc>
              <a:spcBef>
                <a:spcPts val="1200"/>
              </a:spcBef>
              <a:spcAft>
                <a:spcPts val="200"/>
              </a:spcAft>
              <a:buClr>
                <a:schemeClr val="accent1"/>
              </a:buClr>
              <a:buSzPct val="100000"/>
              <a:buFont typeface="Calibri" panose="020F0502020204030204" pitchFamily="34" charset="0"/>
              <a:buChar char=" "/>
              <a:defRPr sz="19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1pPr>
            <a:lvl2pPr marL="38404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7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2pPr>
            <a:lvl3pPr marL="56692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3pPr>
            <a:lvl4pPr marL="74980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4pPr>
            <a:lvl5pPr marL="932688" indent="-182880" algn="l" defTabSz="914400" rtl="0" eaLnBrk="1" latinLnBrk="0" hangingPunct="1">
              <a:lnSpc>
                <a:spcPct val="100000"/>
              </a:lnSpc>
              <a:spcBef>
                <a:spcPts val="200"/>
              </a:spcBef>
              <a:spcAft>
                <a:spcPts val="400"/>
              </a:spcAft>
              <a:buClrTx/>
              <a:buFont typeface="Calibri" pitchFamily="34" charset="0"/>
              <a:buChar char="◦"/>
              <a:defRPr sz="1300" kern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defRPr>
            </a:lvl5pPr>
            <a:lvl6pPr marL="11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3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00000" indent="-228600" algn="l" defTabSz="914400" rtl="0" eaLnBrk="1" latinLnBrk="0" hangingPunct="1">
              <a:lnSpc>
                <a:spcPct val="90000"/>
              </a:lnSpc>
              <a:spcBef>
                <a:spcPts val="200"/>
              </a:spcBef>
              <a:spcAft>
                <a:spcPts val="400"/>
              </a:spcAft>
              <a:buClr>
                <a:schemeClr val="accent1"/>
              </a:buClr>
              <a:buFont typeface="Calibri" pitchFamily="34" charset="0"/>
              <a:buChar char="◦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altLang="zh-TW" sz="1400" b="1" i="0" dirty="0">
                <a:solidFill>
                  <a:schemeClr val="tx1"/>
                </a:solidFill>
                <a:effectLst/>
                <a:latin typeface="Inter"/>
              </a:rPr>
              <a:t>pacify</a:t>
            </a:r>
            <a:br>
              <a:rPr lang="en-US" altLang="zh-TW" sz="1400" b="1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Definition</a:t>
            </a:r>
            <a: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  <a:t>: To make someone who is angry or upset calm and peaceful again.</a:t>
            </a:r>
            <a:b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Example</a:t>
            </a:r>
            <a: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  <a:t>: "The mother tried to pacify her crying baby with a lullaby."---</a:t>
            </a:r>
          </a:p>
          <a:p>
            <a:pPr algn="l"/>
            <a:r>
              <a:rPr lang="en-US" altLang="zh-TW" sz="1400" b="1" i="0" dirty="0">
                <a:solidFill>
                  <a:schemeClr val="tx1"/>
                </a:solidFill>
                <a:effectLst/>
                <a:latin typeface="Inter"/>
              </a:rPr>
              <a:t>displace</a:t>
            </a:r>
            <a:br>
              <a:rPr lang="en-US" altLang="zh-TW" sz="1400" b="1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Definition</a:t>
            </a:r>
            <a: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  <a:t>: To force something or someone out of their usual place or role.</a:t>
            </a:r>
            <a:b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Example</a:t>
            </a:r>
            <a: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  <a:t>: "New technology often displaces older methods and sometimes workers."---</a:t>
            </a:r>
          </a:p>
          <a:p>
            <a:pPr algn="l"/>
            <a:r>
              <a:rPr lang="en-US" altLang="zh-TW" sz="1400" b="1" i="0" dirty="0">
                <a:solidFill>
                  <a:schemeClr val="tx1"/>
                </a:solidFill>
                <a:effectLst/>
                <a:latin typeface="Inter"/>
              </a:rPr>
              <a:t>empathy</a:t>
            </a:r>
            <a:b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Definition</a:t>
            </a:r>
            <a: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  <a:t>: The ability to understand and share the feelings of another person.</a:t>
            </a:r>
            <a:b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Example</a:t>
            </a:r>
            <a: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  <a:t>: "A good friend shows empathy when you are going through a difficult time."---</a:t>
            </a:r>
          </a:p>
          <a:p>
            <a:pPr algn="l"/>
            <a:r>
              <a:rPr lang="en-US" altLang="zh-TW" sz="1400" b="1" i="0" dirty="0">
                <a:solidFill>
                  <a:schemeClr val="tx1"/>
                </a:solidFill>
                <a:effectLst/>
                <a:latin typeface="Inter"/>
              </a:rPr>
              <a:t>filler words</a:t>
            </a:r>
            <a:br>
              <a:rPr lang="en-US" altLang="zh-TW" sz="1400" b="1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Definition</a:t>
            </a:r>
            <a: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  <a:t>: Words or phrases like "um," "ah," or "you know" that speakers use to pause or think during a conversation.</a:t>
            </a:r>
            <a:b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</a:br>
            <a:r>
              <a:rPr lang="en-US" altLang="zh-TW" sz="1600" b="1" dirty="0">
                <a:solidFill>
                  <a:srgbClr val="00ADB5"/>
                </a:solidFill>
                <a:latin typeface="Inter"/>
              </a:rPr>
              <a:t>Example</a:t>
            </a:r>
            <a:r>
              <a:rPr lang="en-US" altLang="zh-TW" sz="1400" i="0" dirty="0">
                <a:solidFill>
                  <a:schemeClr val="tx1"/>
                </a:solidFill>
                <a:effectLst/>
                <a:latin typeface="Inter"/>
              </a:rPr>
              <a:t>: "Using too many filler words can make a speaker sound less confident."</a:t>
            </a:r>
            <a:endParaRPr lang="zh-TW" altLang="en-US" sz="1400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21640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F9C80-D71B-BDD7-1402-E3D98A1D0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599420" cy="1450757"/>
          </a:xfrm>
        </p:spPr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Speak 1: Dealing with Difficult Situations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5D6469-17D8-C5E2-7B0A-DA8167C7F0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97280" y="2108201"/>
            <a:ext cx="10058400" cy="4184649"/>
          </a:xfrm>
        </p:spPr>
        <p:txBody>
          <a:bodyPr>
            <a:normAutofit fontScale="77500" lnSpcReduction="20000"/>
          </a:bodyPr>
          <a:lstStyle/>
          <a:p>
            <a:r>
              <a:rPr lang="en-US" altLang="zh-TW" dirty="0">
                <a:effectLst/>
              </a:rPr>
              <a:t>1. </a:t>
            </a:r>
            <a:r>
              <a:rPr lang="en-US" altLang="zh-TW" b="1" dirty="0">
                <a:effectLst/>
              </a:rPr>
              <a:t>Being on Hold:</a:t>
            </a:r>
            <a:r>
              <a:rPr lang="en-US" altLang="zh-TW" dirty="0">
                <a:effectLst/>
              </a:rPr>
              <a:t> When you call a company, you might hear the message, "</a:t>
            </a:r>
            <a:r>
              <a:rPr lang="en-US" altLang="zh-TW" b="1" dirty="0">
                <a:effectLst/>
              </a:rPr>
              <a:t>Your call is important to us. You are number 89 in the queue</a:t>
            </a:r>
            <a:r>
              <a:rPr lang="en-US" altLang="zh-TW" dirty="0">
                <a:effectLst/>
              </a:rPr>
              <a:t>".</a:t>
            </a:r>
          </a:p>
          <a:p>
            <a:r>
              <a:rPr lang="en-US" altLang="zh-TW" dirty="0">
                <a:solidFill>
                  <a:srgbClr val="0070C0"/>
                </a:solidFill>
                <a:effectLst/>
              </a:rPr>
              <a:t>    ◦ Do you agree with Phil that knowing your number in the queue makes waiting better? Why or why not?</a:t>
            </a:r>
          </a:p>
          <a:p>
            <a:r>
              <a:rPr lang="en-US" altLang="zh-TW" dirty="0">
                <a:effectLst/>
              </a:rPr>
              <a:t>2. </a:t>
            </a:r>
            <a:r>
              <a:rPr lang="en-US" altLang="zh-TW" b="1" dirty="0">
                <a:effectLst/>
              </a:rPr>
              <a:t>Calming Angry Clients:</a:t>
            </a:r>
            <a:r>
              <a:rPr lang="en-US" altLang="zh-TW" dirty="0">
                <a:effectLst/>
              </a:rPr>
              <a:t> Call center workers must deal with clients who are angry and "</a:t>
            </a:r>
            <a:r>
              <a:rPr lang="en-US" altLang="zh-TW" b="1" dirty="0">
                <a:effectLst/>
              </a:rPr>
              <a:t>yelling</a:t>
            </a:r>
            <a:r>
              <a:rPr lang="en-US" altLang="zh-TW" dirty="0">
                <a:effectLst/>
              </a:rPr>
              <a:t>"</a:t>
            </a:r>
          </a:p>
          <a:p>
            <a:r>
              <a:rPr lang="en-US" altLang="zh-TW" dirty="0">
                <a:effectLst/>
              </a:rPr>
              <a:t> 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  ◦ What does it mean to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pacify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" someone?</a:t>
            </a:r>
          </a:p>
          <a:p>
            <a:r>
              <a:rPr lang="en-US" altLang="zh-TW" dirty="0">
                <a:solidFill>
                  <a:srgbClr val="0070C0"/>
                </a:solidFill>
                <a:effectLst/>
              </a:rPr>
              <a:t>    ◦ If you had to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pacify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" an angry customer, what simple words or actions would you use to calm them down?</a:t>
            </a:r>
          </a:p>
          <a:p>
            <a:r>
              <a:rPr lang="en-US" altLang="zh-TW" dirty="0">
                <a:effectLst/>
              </a:rPr>
              <a:t>3. </a:t>
            </a:r>
            <a:r>
              <a:rPr lang="en-US" altLang="zh-TW" b="1" dirty="0">
                <a:effectLst/>
              </a:rPr>
              <a:t>Mental Stress:</a:t>
            </a:r>
            <a:r>
              <a:rPr lang="en-US" altLang="zh-TW" dirty="0">
                <a:effectLst/>
              </a:rPr>
              <a:t> Mylene </a:t>
            </a:r>
            <a:r>
              <a:rPr lang="en-US" altLang="zh-TW" dirty="0" err="1">
                <a:effectLst/>
              </a:rPr>
              <a:t>Cabalona</a:t>
            </a:r>
            <a:r>
              <a:rPr lang="en-US" altLang="zh-TW" dirty="0">
                <a:effectLst/>
              </a:rPr>
              <a:t> mentions the "</a:t>
            </a:r>
            <a:r>
              <a:rPr lang="en-US" altLang="zh-TW" b="1" dirty="0">
                <a:effectLst/>
              </a:rPr>
              <a:t>mental stress</a:t>
            </a:r>
            <a:r>
              <a:rPr lang="en-US" altLang="zh-TW" dirty="0">
                <a:effectLst/>
              </a:rPr>
              <a:t>" of dealing with aggravated clients.</a:t>
            </a:r>
          </a:p>
          <a:p>
            <a:r>
              <a:rPr lang="en-US" altLang="zh-TW" dirty="0">
                <a:effectLst/>
              </a:rPr>
              <a:t>   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◦ What makes this job so stressful for the human worker?</a:t>
            </a:r>
          </a:p>
          <a:p>
            <a:r>
              <a:rPr lang="en-US" altLang="zh-TW" b="1" dirty="0">
                <a:effectLst/>
              </a:rPr>
              <a:t>4. AI Watching:</a:t>
            </a:r>
            <a:r>
              <a:rPr lang="en-US" altLang="zh-TW" dirty="0">
                <a:effectLst/>
              </a:rPr>
              <a:t> Mylene also says that the difficult part of the job is knowing that the conversation is being </a:t>
            </a:r>
            <a:r>
              <a:rPr lang="en-US" altLang="zh-TW" b="1" dirty="0">
                <a:effectLst/>
              </a:rPr>
              <a:t>monitored by an AI</a:t>
            </a:r>
            <a:r>
              <a:rPr lang="en-US" altLang="zh-TW" dirty="0">
                <a:effectLst/>
              </a:rPr>
              <a:t>.</a:t>
            </a:r>
          </a:p>
          <a:p>
            <a:r>
              <a:rPr lang="en-US" altLang="zh-TW" dirty="0">
                <a:effectLst/>
              </a:rPr>
              <a:t>   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◦ How might being watched by a machine make a person feel more nervous or stressed while they work?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FCBED8-712A-44A7-A30E-E00288D2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967997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F9C80-D71B-BDD7-1402-E3D98A1D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Speak 2: AI and Job Loss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5D6469-17D8-C5E2-7B0A-DA8167C7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TW" dirty="0">
                <a:effectLst/>
              </a:rPr>
              <a:t>5. </a:t>
            </a:r>
            <a:r>
              <a:rPr lang="en-US" altLang="zh-TW" b="1" dirty="0">
                <a:effectLst/>
              </a:rPr>
              <a:t>Who is in Charge?</a:t>
            </a:r>
            <a:r>
              <a:rPr lang="en-US" altLang="zh-TW" dirty="0">
                <a:effectLst/>
              </a:rPr>
              <a:t> The program asks: who is really in charge at the call </a:t>
            </a:r>
            <a:r>
              <a:rPr lang="en-US" altLang="zh-TW" dirty="0" err="1">
                <a:effectLst/>
              </a:rPr>
              <a:t>centre</a:t>
            </a:r>
            <a:r>
              <a:rPr lang="en-US" altLang="zh-TW" dirty="0">
                <a:effectLst/>
              </a:rPr>
              <a:t>, humans or AI?</a:t>
            </a:r>
          </a:p>
          <a:p>
            <a:r>
              <a:rPr lang="en-US" altLang="zh-TW" dirty="0">
                <a:effectLst/>
              </a:rPr>
              <a:t>    ◦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 Do you think companies will let AI take over completely, or will humans always be needed?</a:t>
            </a:r>
          </a:p>
          <a:p>
            <a:r>
              <a:rPr lang="en-US" altLang="zh-TW" dirty="0">
                <a:effectLst/>
              </a:rPr>
              <a:t>6. </a:t>
            </a:r>
            <a:r>
              <a:rPr lang="en-US" altLang="zh-TW" b="1" dirty="0">
                <a:effectLst/>
              </a:rPr>
              <a:t>Economic Impact:</a:t>
            </a:r>
            <a:r>
              <a:rPr lang="en-US" altLang="zh-TW" dirty="0">
                <a:effectLst/>
              </a:rPr>
              <a:t> Call center jobs are a </a:t>
            </a:r>
            <a:r>
              <a:rPr lang="en-US" altLang="zh-TW" b="1" dirty="0">
                <a:effectLst/>
              </a:rPr>
              <a:t>big part of the economy</a:t>
            </a:r>
            <a:r>
              <a:rPr lang="en-US" altLang="zh-TW" dirty="0">
                <a:effectLst/>
              </a:rPr>
              <a:t> in countries like the Philippines and India.</a:t>
            </a:r>
          </a:p>
          <a:p>
            <a:r>
              <a:rPr lang="en-US" altLang="zh-TW" dirty="0">
                <a:effectLst/>
              </a:rPr>
              <a:t>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   ◦ If AI starts to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displace workers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", how could this hurt the entire economy of those countries?</a:t>
            </a:r>
          </a:p>
          <a:p>
            <a:r>
              <a:rPr lang="en-US" altLang="zh-TW" dirty="0">
                <a:effectLst/>
              </a:rPr>
              <a:t>7. </a:t>
            </a:r>
            <a:r>
              <a:rPr lang="en-US" altLang="zh-TW" b="1" dirty="0">
                <a:effectLst/>
              </a:rPr>
              <a:t>The Timeline:</a:t>
            </a:r>
            <a:r>
              <a:rPr lang="en-US" altLang="zh-TW" dirty="0">
                <a:effectLst/>
              </a:rPr>
              <a:t> Mylene fears that AI will replace workers "</a:t>
            </a:r>
            <a:r>
              <a:rPr lang="en-US" altLang="zh-TW" b="1" dirty="0">
                <a:effectLst/>
              </a:rPr>
              <a:t>in the near future</a:t>
            </a:r>
            <a:r>
              <a:rPr lang="en-US" altLang="zh-TW" dirty="0">
                <a:effectLst/>
              </a:rPr>
              <a:t>".</a:t>
            </a:r>
          </a:p>
          <a:p>
            <a:r>
              <a:rPr lang="en-US" altLang="zh-TW" dirty="0">
                <a:effectLst/>
              </a:rPr>
              <a:t>  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 ◦ What does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in the near future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" mean?</a:t>
            </a:r>
          </a:p>
          <a:p>
            <a:r>
              <a:rPr lang="en-US" altLang="zh-TW" dirty="0">
                <a:solidFill>
                  <a:srgbClr val="0070C0"/>
                </a:solidFill>
                <a:effectLst/>
              </a:rPr>
              <a:t>    ◦ Do you think 27% of call center jobs will be lost very soon, or will it take longer? 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FCBED8-712A-44A7-A30E-E00288D2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30234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F9C80-D71B-BDD7-1402-E3D98A1D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Speak 3: Human Skills vs. Machine Skills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5D6469-17D8-C5E2-7B0A-DA8167C7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</a:rPr>
              <a:t>8. </a:t>
            </a:r>
            <a:r>
              <a:rPr lang="en-US" altLang="zh-TW" b="1" dirty="0">
                <a:effectLst/>
              </a:rPr>
              <a:t>Empathy:</a:t>
            </a:r>
            <a:r>
              <a:rPr lang="en-US" altLang="zh-TW" dirty="0">
                <a:effectLst/>
              </a:rPr>
              <a:t> Mylene argues that AI will </a:t>
            </a:r>
            <a:r>
              <a:rPr lang="en-US" altLang="zh-TW" b="1" dirty="0">
                <a:effectLst/>
              </a:rPr>
              <a:t>never fully replace humans</a:t>
            </a:r>
            <a:r>
              <a:rPr lang="en-US" altLang="zh-TW" dirty="0">
                <a:effectLst/>
              </a:rPr>
              <a:t> because it lacks "</a:t>
            </a:r>
            <a:r>
              <a:rPr lang="en-US" altLang="zh-TW" b="1" dirty="0">
                <a:effectLst/>
              </a:rPr>
              <a:t>empathy</a:t>
            </a:r>
            <a:r>
              <a:rPr lang="en-US" altLang="zh-TW" dirty="0">
                <a:effectLst/>
              </a:rPr>
              <a:t>".</a:t>
            </a:r>
          </a:p>
          <a:p>
            <a:r>
              <a:rPr lang="en-US" altLang="zh-TW" dirty="0">
                <a:effectLst/>
              </a:rPr>
              <a:t>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   ◦ What does it mean to be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empathetic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"? </a:t>
            </a:r>
          </a:p>
          <a:p>
            <a:r>
              <a:rPr lang="en-US" altLang="zh-TW" dirty="0">
                <a:solidFill>
                  <a:srgbClr val="0070C0"/>
                </a:solidFill>
                <a:effectLst/>
              </a:rPr>
              <a:t>    ◦ In a difficult situation, why might a client feel 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more compassionate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 when talking to a person instead of a robot?</a:t>
            </a:r>
          </a:p>
          <a:p>
            <a:r>
              <a:rPr lang="en-US" altLang="zh-TW" dirty="0">
                <a:effectLst/>
              </a:rPr>
              <a:t>9. </a:t>
            </a:r>
            <a:r>
              <a:rPr lang="en-US" altLang="zh-TW" b="1" dirty="0">
                <a:effectLst/>
              </a:rPr>
              <a:t>AI Support:</a:t>
            </a:r>
            <a:r>
              <a:rPr lang="en-US" altLang="zh-TW" dirty="0">
                <a:effectLst/>
              </a:rPr>
              <a:t> If AI can't show empathy, should companies use AI to </a:t>
            </a:r>
            <a:r>
              <a:rPr lang="en-US" altLang="zh-TW" b="1" dirty="0">
                <a:effectLst/>
              </a:rPr>
              <a:t>help</a:t>
            </a:r>
            <a:r>
              <a:rPr lang="en-US" altLang="zh-TW" dirty="0">
                <a:effectLst/>
              </a:rPr>
              <a:t> human workers instead of replacing them?</a:t>
            </a:r>
          </a:p>
          <a:p>
            <a:r>
              <a:rPr lang="en-US" altLang="zh-TW" dirty="0">
                <a:effectLst/>
              </a:rPr>
              <a:t>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   ◦ What kinds of tasks could AI handle so the human worker can focus on being empathetic?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FCBED8-712A-44A7-A30E-E00288D2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88080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F7F9C80-D71B-BDD7-1402-E3D98A1D06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>
                <a:latin typeface="Arial" panose="020B0604020202020204" pitchFamily="34" charset="0"/>
                <a:cs typeface="Arial" panose="020B0604020202020204" pitchFamily="34" charset="0"/>
              </a:rPr>
              <a:t>Speak 4: Language and Conversation</a:t>
            </a:r>
            <a:endParaRPr lang="zh-TW" alt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F85D6469-17D8-C5E2-7B0A-DA8167C7F0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effectLst/>
              </a:rPr>
              <a:t>10. </a:t>
            </a:r>
            <a:r>
              <a:rPr lang="en-US" altLang="zh-TW" b="1" dirty="0">
                <a:effectLst/>
              </a:rPr>
              <a:t>Filler Words:</a:t>
            </a:r>
            <a:r>
              <a:rPr lang="en-US" altLang="zh-TW" dirty="0">
                <a:effectLst/>
              </a:rPr>
              <a:t> Mylene uses the phrase "</a:t>
            </a:r>
            <a:r>
              <a:rPr lang="en-US" altLang="zh-TW" b="1" dirty="0">
                <a:effectLst/>
              </a:rPr>
              <a:t>you know</a:t>
            </a:r>
            <a:r>
              <a:rPr lang="en-US" altLang="zh-TW" dirty="0">
                <a:effectLst/>
              </a:rPr>
              <a:t>" a lot. This is a </a:t>
            </a:r>
            <a:r>
              <a:rPr lang="en-US" altLang="zh-TW" b="1" dirty="0">
                <a:effectLst/>
              </a:rPr>
              <a:t>filler word</a:t>
            </a:r>
            <a:r>
              <a:rPr lang="en-US" altLang="zh-TW" dirty="0">
                <a:effectLst/>
              </a:rPr>
              <a:t>.</a:t>
            </a:r>
          </a:p>
          <a:p>
            <a:r>
              <a:rPr lang="en-US" altLang="zh-TW" dirty="0">
                <a:effectLst/>
              </a:rPr>
              <a:t>  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 ◦ Why do people use filler words like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um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,"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ah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," or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you know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" when speaking?</a:t>
            </a:r>
          </a:p>
          <a:p>
            <a:r>
              <a:rPr lang="en-US" altLang="zh-TW" dirty="0">
                <a:solidFill>
                  <a:srgbClr val="0070C0"/>
                </a:solidFill>
                <a:effectLst/>
              </a:rPr>
              <a:t>    ◦ Do you use them more when you are thinking hard or when you are nervous?</a:t>
            </a:r>
          </a:p>
          <a:p>
            <a:r>
              <a:rPr lang="en-US" altLang="zh-TW" dirty="0">
                <a:effectLst/>
              </a:rPr>
              <a:t>11. </a:t>
            </a:r>
            <a:r>
              <a:rPr lang="en-US" altLang="zh-TW" b="1" dirty="0">
                <a:effectLst/>
              </a:rPr>
              <a:t>Adding Emphasis:</a:t>
            </a:r>
            <a:r>
              <a:rPr lang="en-US" altLang="zh-TW" dirty="0">
                <a:effectLst/>
              </a:rPr>
              <a:t> Phil defines "</a:t>
            </a:r>
            <a:r>
              <a:rPr lang="en-US" altLang="zh-TW" b="1" dirty="0">
                <a:effectLst/>
              </a:rPr>
              <a:t>as a matter of fact</a:t>
            </a:r>
            <a:r>
              <a:rPr lang="en-US" altLang="zh-TW" dirty="0">
                <a:effectLst/>
              </a:rPr>
              <a:t>" as a phrase used to </a:t>
            </a:r>
            <a:r>
              <a:rPr lang="en-US" altLang="zh-TW" b="1" dirty="0">
                <a:effectLst/>
              </a:rPr>
              <a:t>add emphasis</a:t>
            </a:r>
            <a:r>
              <a:rPr lang="en-US" altLang="zh-TW" dirty="0">
                <a:effectLst/>
              </a:rPr>
              <a:t> or give more detail.</a:t>
            </a:r>
          </a:p>
          <a:p>
            <a:r>
              <a:rPr lang="en-US" altLang="zh-TW" dirty="0">
                <a:effectLst/>
              </a:rPr>
              <a:t>   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 ◦ Think of a fact about your day. How could you use the phrase "</a:t>
            </a:r>
            <a:r>
              <a:rPr lang="en-US" altLang="zh-TW" b="1" dirty="0">
                <a:solidFill>
                  <a:srgbClr val="0070C0"/>
                </a:solidFill>
                <a:effectLst/>
              </a:rPr>
              <a:t>as a matter of fact</a:t>
            </a:r>
            <a:r>
              <a:rPr lang="en-US" altLang="zh-TW" dirty="0">
                <a:solidFill>
                  <a:srgbClr val="0070C0"/>
                </a:solidFill>
                <a:effectLst/>
              </a:rPr>
              <a:t>" to make your statement stronger?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58FCBED8-712A-44A7-A30E-E00288D2A6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77744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9A167F-B1B4-839A-0016-C017F463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Meiryo UI" panose="020B0400000000000000" pitchFamily="34" charset="-128"/>
                <a:ea typeface="Meiryo UI" panose="020B0400000000000000" pitchFamily="34" charset="-128"/>
              </a:rPr>
              <a:t>Simulated Speaking Contest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B53E68-C892-4B89-016A-16735B24AA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Group A: </a:t>
            </a:r>
            <a:r>
              <a:rPr lang="en-US" dirty="0">
                <a:highlight>
                  <a:srgbClr val="FFFF00"/>
                </a:highlight>
              </a:rPr>
              <a:t>Positive</a:t>
            </a:r>
            <a:r>
              <a:rPr lang="en-US" dirty="0"/>
              <a:t> views towards AI’s role in certain segments of the job market</a:t>
            </a:r>
          </a:p>
          <a:p>
            <a:endParaRPr lang="en-US" dirty="0"/>
          </a:p>
          <a:p>
            <a:r>
              <a:rPr lang="en-US" dirty="0"/>
              <a:t>Group B: </a:t>
            </a:r>
            <a:r>
              <a:rPr lang="en-US" dirty="0">
                <a:highlight>
                  <a:srgbClr val="FFFF00"/>
                </a:highlight>
              </a:rPr>
              <a:t>Negative, skeptical</a:t>
            </a:r>
            <a:r>
              <a:rPr lang="en-US" dirty="0"/>
              <a:t> views towards AI’s role in certain segments of the job market,</a:t>
            </a:r>
          </a:p>
          <a:p>
            <a:endParaRPr lang="en-US" dirty="0"/>
          </a:p>
          <a:p>
            <a:r>
              <a:rPr lang="en-US" dirty="0">
                <a:hlinkClick r:id="rId2"/>
              </a:rPr>
              <a:t>https://tinyurl.com/y24eshfs</a:t>
            </a:r>
            <a:endParaRPr lang="en-US" dirty="0"/>
          </a:p>
          <a:p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8DDF72-BF56-E64B-8015-D42ADC5E0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rtl="0"/>
            <a:fld id="{A55B7815-05FA-48A0-B9F7-1E04C4F2927A}" type="datetime1">
              <a:rPr lang="zh-TW" altLang="en-US" smtClean="0"/>
              <a:t>2025/10/2</a:t>
            </a:fld>
            <a:endParaRPr lang="en-US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B07294FA-03C8-0B25-E9A7-59DF69F8039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484" y="3875404"/>
            <a:ext cx="2286635" cy="22866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354340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0A936DA-2232-D6AF-6438-D3037493BE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2610" y="286603"/>
            <a:ext cx="7113069" cy="1186597"/>
          </a:xfrm>
        </p:spPr>
        <p:txBody>
          <a:bodyPr>
            <a:normAutofit/>
          </a:bodyPr>
          <a:lstStyle/>
          <a:p>
            <a:r>
              <a:rPr lang="en-US" altLang="zh-TW" sz="3600" dirty="0">
                <a:solidFill>
                  <a:srgbClr val="00B0F0"/>
                </a:solidFill>
                <a:latin typeface="STXihei" panose="02010600040101010101" pitchFamily="2" charset="-122"/>
                <a:ea typeface="STXihei" panose="02010600040101010101" pitchFamily="2" charset="-122"/>
              </a:rPr>
              <a:t>Update on CN Academy</a:t>
            </a:r>
            <a:endParaRPr lang="zh-TW" altLang="en-US" sz="3600" dirty="0">
              <a:solidFill>
                <a:srgbClr val="00B0F0"/>
              </a:solidFill>
              <a:latin typeface="STXihei" panose="02010600040101010101" pitchFamily="2" charset="-122"/>
              <a:ea typeface="STXihei" panose="02010600040101010101" pitchFamily="2" charset="-122"/>
            </a:endParaRPr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7EFE5D59-A075-4C63-7800-D1BEE5BF1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30832"/>
            <a:ext cx="54502" cy="46166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br>
              <a:rPr kumimoji="0" lang="zh-TW" altLang="zh-TW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Arial" panose="020B0604020202020204" pitchFamily="34" charset="0"/>
                <a:ea typeface="PingFang-SC"/>
              </a:rPr>
            </a:br>
            <a:endParaRPr kumimoji="0" lang="zh-TW" altLang="zh-TW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6EE43F82-E436-04CC-DFEF-ED1B7C43AA4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036320" y="912654"/>
            <a:ext cx="2424361" cy="560546"/>
          </a:xfrm>
          <a:prstGeom prst="rect">
            <a:avLst/>
          </a:prstGeom>
        </p:spPr>
      </p:pic>
      <p:sp>
        <p:nvSpPr>
          <p:cNvPr id="14" name="文字方塊 13">
            <a:extLst>
              <a:ext uri="{FF2B5EF4-FFF2-40B4-BE49-F238E27FC236}">
                <a16:creationId xmlns:a16="http://schemas.microsoft.com/office/drawing/2014/main" id="{717F432A-4C6A-B294-804E-4FC963282855}"/>
              </a:ext>
            </a:extLst>
          </p:cNvPr>
          <p:cNvSpPr txBox="1"/>
          <p:nvPr/>
        </p:nvSpPr>
        <p:spPr>
          <a:xfrm>
            <a:off x="1036320" y="2675374"/>
            <a:ext cx="311912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dirty="0">
                <a:hlinkClick r:id="rId3"/>
              </a:rPr>
              <a:t>Cisco Networking Academy: Computer Hardware Basics</a:t>
            </a:r>
            <a:endParaRPr lang="zh-TW" altLang="en-US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50A81E8F-7DC4-2033-1DF0-096CDA7B5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50881" y="1968500"/>
            <a:ext cx="477136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113308"/>
      </p:ext>
    </p:extLst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665_TF56160789.potx" id="{C03BE16E-05B7-438C-85CB-7604B66C50C5}" vid="{E3EA7662-8E7E-4B1D-9203-FBA998A86136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{37E69328-BF55-448F-BC7C-8D48598C2492}tf56160789_win32</Template>
  <TotalTime>169</TotalTime>
  <Words>1207</Words>
  <Application>Microsoft Office PowerPoint</Application>
  <PresentationFormat>Widescreen</PresentationFormat>
  <Paragraphs>83</Paragraphs>
  <Slides>12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1" baseType="lpstr">
      <vt:lpstr>Meiryo UI</vt:lpstr>
      <vt:lpstr>Microsoft JhengHei UI</vt:lpstr>
      <vt:lpstr>MingLiu</vt:lpstr>
      <vt:lpstr>STKaiti</vt:lpstr>
      <vt:lpstr>STXihei</vt:lpstr>
      <vt:lpstr>Arial</vt:lpstr>
      <vt:lpstr>Calibri</vt:lpstr>
      <vt:lpstr>Inter</vt:lpstr>
      <vt:lpstr>1_RetrospectVTI</vt:lpstr>
      <vt:lpstr>English for Information Technology</vt:lpstr>
      <vt:lpstr>BBC Learning English</vt:lpstr>
      <vt:lpstr>BBC Learning English</vt:lpstr>
      <vt:lpstr>Online resources for today</vt:lpstr>
      <vt:lpstr>Listen</vt:lpstr>
      <vt:lpstr>Vocabulary</vt:lpstr>
      <vt:lpstr>Speak 1: Dealing with Difficult Situations</vt:lpstr>
      <vt:lpstr>Speak 2: AI and Job Loss</vt:lpstr>
      <vt:lpstr>Speak 3: Human Skills vs. Machine Skills</vt:lpstr>
      <vt:lpstr>Speak 4: Language and Conversation</vt:lpstr>
      <vt:lpstr>Simulated Speaking Contest</vt:lpstr>
      <vt:lpstr>Update on CN Academy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Luke Miao</dc:creator>
  <cp:lastModifiedBy>繆強(Miao Qiang)</cp:lastModifiedBy>
  <cp:revision>38</cp:revision>
  <dcterms:created xsi:type="dcterms:W3CDTF">2025-09-08T16:31:02Z</dcterms:created>
  <dcterms:modified xsi:type="dcterms:W3CDTF">2025-10-02T08:54:57Z</dcterms:modified>
</cp:coreProperties>
</file>