
<file path=[Content_Types].xml><?xml version="1.0" encoding="utf-8"?>
<Types xmlns="http://schemas.openxmlformats.org/package/2006/content-types"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1"/>
  </p:sldMasterIdLst>
  <p:notesMasterIdLst>
    <p:notesMasterId r:id="rId12"/>
  </p:notesMasterIdLst>
  <p:handoutMasterIdLst>
    <p:handoutMasterId r:id="rId13"/>
  </p:handoutMasterIdLst>
  <p:sldIdLst>
    <p:sldId id="257" r:id="rId2"/>
    <p:sldId id="287" r:id="rId3"/>
    <p:sldId id="289" r:id="rId4"/>
    <p:sldId id="288" r:id="rId5"/>
    <p:sldId id="277" r:id="rId6"/>
    <p:sldId id="284" r:id="rId7"/>
    <p:sldId id="283" r:id="rId8"/>
    <p:sldId id="286" r:id="rId9"/>
    <p:sldId id="285" r:id="rId10"/>
    <p:sldId id="266" r:id="rId11"/>
  </p:sldIdLst>
  <p:sldSz cx="12192000" cy="6858000"/>
  <p:notesSz cx="6858000" cy="9144000"/>
  <p:defaultTextStyle>
    <a:defPPr rtl="0"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52AAF9F1-E50B-45AB-9DDD-AEB2F95F53E1}">
          <p14:sldIdLst>
            <p14:sldId id="257"/>
            <p14:sldId id="287"/>
            <p14:sldId id="289"/>
            <p14:sldId id="288"/>
            <p14:sldId id="277"/>
            <p14:sldId id="284"/>
            <p14:sldId id="283"/>
            <p14:sldId id="286"/>
            <p14:sldId id="28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33FF"/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75" d="100"/>
          <a:sy n="75" d="100"/>
        </p:scale>
        <p:origin x="6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3" d="100"/>
          <a:sy n="123" d="100"/>
        </p:scale>
        <p:origin x="4974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預留位置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550261E5-B7A8-407C-8EC1-76B17CEB3BFC}" type="datetime1">
              <a:rPr lang="zh-TW" altLang="en-US" smtClean="0"/>
              <a:t>2025/9/25</a:t>
            </a:fld>
            <a:endParaRPr lang="en-US" dirty="0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投影片編號預留位置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ED92CB86-0DB9-4A70-B1CF-B23508471F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557642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950AEE62-6B03-446E-B028-1F2C67AA2CBE}" type="datetime1">
              <a:rPr lang="zh-TW" altLang="en-US" smtClean="0"/>
              <a:t>2025/9/25</a:t>
            </a:fld>
            <a:endParaRPr 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/>
          </a:p>
        </p:txBody>
      </p:sp>
      <p:sp>
        <p:nvSpPr>
          <p:cNvPr id="5" name="備忘稿預留位置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zh-tw"/>
              <a:t>按一下以編輯母片文字樣式</a:t>
            </a:r>
            <a:endParaRPr lang="en-US"/>
          </a:p>
          <a:p>
            <a:pPr lvl="1" rtl="0"/>
            <a:r>
              <a:rPr lang="zh-tw"/>
              <a:t>第二層</a:t>
            </a:r>
          </a:p>
          <a:p>
            <a:pPr lvl="2" rtl="0"/>
            <a:r>
              <a:rPr lang="zh-tw"/>
              <a:t>第三層</a:t>
            </a:r>
          </a:p>
          <a:p>
            <a:pPr lvl="3" rtl="0"/>
            <a:r>
              <a:rPr lang="zh-tw"/>
              <a:t>第四層</a:t>
            </a:r>
          </a:p>
          <a:p>
            <a:pPr lvl="4" rtl="0"/>
            <a:r>
              <a:rPr lang="zh-tw"/>
              <a:t>第五層</a:t>
            </a:r>
            <a:endParaRPr lang="en-US"/>
          </a:p>
        </p:txBody>
      </p:sp>
      <p:sp>
        <p:nvSpPr>
          <p:cNvPr id="6" name="頁尾預留位置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2B151B-D7D1-48E5-8230-5AADBC794F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59278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rtl="0"/>
            <a:fld id="{950AEE62-6B03-446E-B028-1F2C67AA2CBE}" type="datetime1">
              <a:rPr lang="zh-TW" altLang="en-US" smtClean="0"/>
              <a:t>2025/9/25</a:t>
            </a:fld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9C2B151B-D7D1-48E5-8230-5AADBC794F8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2796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rtl="0"/>
            <a:fld id="{950AEE62-6B03-446E-B028-1F2C67AA2CBE}" type="datetime1">
              <a:rPr lang="zh-TW" altLang="en-US" smtClean="0"/>
              <a:t>2025/9/25</a:t>
            </a:fld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9C2B151B-D7D1-48E5-8230-5AADBC794F8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8063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rtlCol="0"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 rtlCol="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pPr rtl="0"/>
            <a:r>
              <a:rPr lang="zh-TW" altLang="en-US"/>
              <a:t>按一下以編輯母片子標題樣式</a:t>
            </a:r>
            <a:endParaRPr lang="en-US" dirty="0"/>
          </a:p>
        </p:txBody>
      </p:sp>
      <p:cxnSp>
        <p:nvCxnSpPr>
          <p:cNvPr id="9" name="直線接點​​(S)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1E8D126-38DE-467F-A065-2775F6C58740}" type="datetime1">
              <a:rPr lang="zh-TW" altLang="en-US" smtClean="0"/>
              <a:t>2025/9/25</a:t>
            </a:fld>
            <a:endParaRPr lang="en-US" dirty="0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投影片編號預留位置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331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內容預留位置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55B7815-05FA-48A0-B9F7-1E04C4F2927A}" type="datetime1">
              <a:rPr lang="zh-TW" altLang="en-US" smtClean="0"/>
              <a:t>2025/9/25</a:t>
            </a:fld>
            <a:endParaRPr lang="en-US" dirty="0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9" name="投影片編號預留位置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670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rtlCol="0"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文字預留位置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rtlCol="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cxnSp>
        <p:nvCxnSpPr>
          <p:cNvPr id="9" name="直線接點​​(S)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FBF2AB9-D521-429F-BA9E-A2DD356AF2DF}" type="datetime1">
              <a:rPr lang="zh-TW" altLang="en-US" smtClean="0"/>
              <a:t>2025/9/25</a:t>
            </a:fld>
            <a:endParaRPr lang="en-US" dirty="0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1" name="投影片編號版面配置區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162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/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內容預留位置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 rtlCol="0"/>
          <a:lstStyle/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內容預留位置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 rtlCol="0"/>
          <a:lstStyle/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748A74C-3BFC-4F64-9D88-E80E3E32994C}" type="datetime1">
              <a:rPr lang="zh-TW" altLang="en-US" smtClean="0"/>
              <a:t>2025/9/25</a:t>
            </a:fld>
            <a:endParaRPr lang="en-US" dirty="0"/>
          </a:p>
        </p:txBody>
      </p:sp>
      <p:sp>
        <p:nvSpPr>
          <p:cNvPr id="9" name="頁尾版面配置區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投影片編號預留位置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66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標題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/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文字預留位置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預留位置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 rtlCol="0"/>
          <a:lstStyle/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文字預留位置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預留位置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 rtlCol="0"/>
          <a:lstStyle/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0166BAE-2749-48CF-A2DD-C010F9F8CC67}" type="datetime1">
              <a:rPr lang="zh-TW" altLang="en-US" smtClean="0"/>
              <a:t>2025/9/25</a:t>
            </a:fld>
            <a:endParaRPr lang="en-US" dirty="0"/>
          </a:p>
        </p:txBody>
      </p:sp>
      <p:sp>
        <p:nvSpPr>
          <p:cNvPr id="11" name="頁尾版面配置區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2" name="投影片編號預留位置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194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6" name="日期版面配置區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2EB3E87-0960-43A6-B33B-AB6B15A82628}" type="datetime1">
              <a:rPr lang="zh-TW" altLang="en-US" smtClean="0"/>
              <a:t>2025/9/25</a:t>
            </a:fld>
            <a:endParaRPr lang="en-US" dirty="0"/>
          </a:p>
        </p:txBody>
      </p:sp>
      <p:sp>
        <p:nvSpPr>
          <p:cNvPr id="7" name="頁尾版面配置區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8" name="投影片編號預留位置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860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A92F8F0-693D-4EF4-BEF5-7FD95F4C1D80}" type="datetime1">
              <a:rPr lang="zh-TW" altLang="en-US" smtClean="0"/>
              <a:t>2025/9/25</a:t>
            </a:fld>
            <a:endParaRPr lang="en-US" dirty="0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投影片編號預留位置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422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rtlCol="0"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內容預留位置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 rtlCol="0"/>
          <a:lstStyle/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文字預留位置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 rtlCol="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 rtlCol="0"/>
          <a:lstStyle>
            <a:lvl1pPr algn="l">
              <a:defRPr/>
            </a:lvl1pPr>
          </a:lstStyle>
          <a:p>
            <a:pPr rtl="0"/>
            <a:fld id="{4E96419C-65CA-4A96-8C8D-1B83D1EEA06C}" type="datetime1">
              <a:rPr lang="zh-TW" altLang="en-US" smtClean="0"/>
              <a:t>2025/9/25</a:t>
            </a:fld>
            <a:endParaRPr lang="en-US" dirty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 rtlCol="0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82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圖片預留位置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rtlCol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文字預留位置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fld id="{55B0D56E-A8D9-4835-9121-D0F2B7B922B1}" type="datetime1">
              <a:rPr lang="zh-TW" altLang="en-US" smtClean="0"/>
              <a:t>2025/9/25</a:t>
            </a:fld>
            <a:endParaRPr lang="en-US" dirty="0"/>
          </a:p>
        </p:txBody>
      </p:sp>
      <p:sp>
        <p:nvSpPr>
          <p:cNvPr id="6" name="頁尾預留位置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 rtlCol="0"/>
          <a:lstStyle/>
          <a:p>
            <a:pPr algn="l" rtl="0"/>
            <a:endParaRPr lang="en-US" dirty="0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26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直排文字預留位置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 rtlCol="0"/>
          <a:lstStyle/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AD90E0D-C35F-4A14-A7E8-7670CE6639F2}" type="datetime1">
              <a:rPr lang="zh-TW" altLang="en-US" smtClean="0"/>
              <a:t>2025/9/25</a:t>
            </a:fld>
            <a:endParaRPr lang="en-US" dirty="0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9" name="投影片編號預留位置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26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 rtlCol="0"/>
          <a:lstStyle/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直排文字預留位置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 rtlCol="0"/>
          <a:lstStyle/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2E02858-A2D1-43A3-9BDC-80D1F48AA51B}" type="datetime1">
              <a:rPr lang="zh-TW" altLang="en-US" smtClean="0"/>
              <a:t>2025/9/25</a:t>
            </a:fld>
            <a:endParaRPr lang="en-US" dirty="0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投影片編號版面配置區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827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zh-tw" dirty="0"/>
              <a:t>按一下以編輯母片標題樣式</a:t>
            </a:r>
            <a:endParaRPr lang="en-US" dirty="0"/>
          </a:p>
        </p:txBody>
      </p:sp>
      <p:sp>
        <p:nvSpPr>
          <p:cNvPr id="3" name="文字預留位置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 rtl="0"/>
            <a:r>
              <a:rPr lang="zh-tw" dirty="0"/>
              <a:t>按一下以編輯母片文字樣式</a:t>
            </a:r>
          </a:p>
          <a:p>
            <a:pPr lvl="1" rtl="0"/>
            <a:r>
              <a:rPr lang="zh-tw" dirty="0"/>
              <a:t>第二層</a:t>
            </a:r>
          </a:p>
          <a:p>
            <a:pPr lvl="2" rtl="0"/>
            <a:r>
              <a:rPr lang="zh-tw" dirty="0"/>
              <a:t>第三層</a:t>
            </a:r>
          </a:p>
          <a:p>
            <a:pPr lvl="3" rtl="0"/>
            <a:r>
              <a:rPr lang="zh-tw" dirty="0"/>
              <a:t>第四層</a:t>
            </a:r>
          </a:p>
          <a:p>
            <a:pPr lvl="4" rtl="0"/>
            <a:r>
              <a:rPr lang="zh-tw" dirty="0"/>
              <a:t>第五層</a:t>
            </a:r>
            <a:endParaRPr 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86D72111-2BF8-49E3-AA06-55BC47AB46EA}" type="datetime1">
              <a:rPr lang="zh-TW" altLang="en-US" smtClean="0"/>
              <a:t>2025/9/25</a:t>
            </a:fld>
            <a:endParaRPr lang="en-US" dirty="0"/>
          </a:p>
        </p:txBody>
      </p:sp>
      <p:sp>
        <p:nvSpPr>
          <p:cNvPr id="5" name="頁尾預留位置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直線接點​​(S)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98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47" r:id="rId3"/>
    <p:sldLayoutId id="2147483743" r:id="rId4"/>
    <p:sldLayoutId id="2147483738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MingLiu" panose="02020509000000000000" pitchFamily="49" charset="-120"/>
          <a:ea typeface="MingLiu" panose="02020509000000000000" pitchFamily="49" charset="-120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www.bbc.co.uk/learningenglish/english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www.bbc.co.uk/learningenglish/english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hyperlink" Target="https://www.bbc.co.uk/learningenglish/english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www.bbc.com/learningenglish/english/features/real-easy-english/250606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etacad.com/launch?id=10349eca-196c-4047-9c86-6dc1da4601f6&amp;tab=curriculum&amp;view=02e500cc-28e7-5b0c-95bd-69fa769d3491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矩形 21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78FD68DA-43BA-4508-8DE2-BA9BB7B2F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85984" y="1100030"/>
            <a:ext cx="6273116" cy="3225082"/>
          </a:xfrm>
        </p:spPr>
        <p:txBody>
          <a:bodyPr rtlCol="0">
            <a:normAutofit/>
          </a:bodyPr>
          <a:lstStyle/>
          <a:p>
            <a:r>
              <a:rPr lang="en-US" altLang="zh-TW" sz="6600" b="1" dirty="0">
                <a:solidFill>
                  <a:srgbClr val="0070C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English for Information Technology</a:t>
            </a:r>
            <a:endParaRPr lang="zh-tw" sz="6600" dirty="0">
              <a:solidFill>
                <a:srgbClr val="0070C0"/>
              </a:solidFill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A8E9CFF2-3777-4FF4-A759-8491175B0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27754" y="4672739"/>
            <a:ext cx="6131346" cy="1021498"/>
          </a:xfrm>
        </p:spPr>
        <p:txBody>
          <a:bodyPr rtlCol="0">
            <a:normAutofit/>
          </a:bodyPr>
          <a:lstStyle/>
          <a:p>
            <a:pPr rtl="0"/>
            <a:r>
              <a:rPr lang="en-US" altLang="zh-TW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Dept of information management, </a:t>
            </a:r>
            <a:r>
              <a:rPr lang="en-US" altLang="zh-TW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Yuanze</a:t>
            </a:r>
            <a:r>
              <a:rPr lang="en-US" altLang="zh-TW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University</a:t>
            </a:r>
            <a:endParaRPr lang="zh-tw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5" name="圖片 4" descr="含有建築物、坐下、板凳、側面的圖片&#10;&#10;自動產生的描述">
            <a:extLst>
              <a:ext uri="{FF2B5EF4-FFF2-40B4-BE49-F238E27FC236}">
                <a16:creationId xmlns:a16="http://schemas.microsoft.com/office/drawing/2014/main" id="{282CF6DD-7FE8-4063-9551-1B7BBCE92AB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"/>
            <a:ext cx="4968657" cy="6857999"/>
          </a:xfrm>
          <a:prstGeom prst="rect">
            <a:avLst/>
          </a:prstGeom>
        </p:spPr>
      </p:pic>
      <p:cxnSp>
        <p:nvCxnSpPr>
          <p:cNvPr id="24" name="直線接點​​(S) 23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27754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D5739B2C-D4C0-AE14-8636-53A49D03136C}"/>
              </a:ext>
            </a:extLst>
          </p:cNvPr>
          <p:cNvSpPr txBox="1"/>
          <p:nvPr/>
        </p:nvSpPr>
        <p:spPr>
          <a:xfrm>
            <a:off x="913200" y="5183488"/>
            <a:ext cx="115944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FF0000"/>
                </a:solidFill>
                <a:highlight>
                  <a:srgbClr val="FFFF00"/>
                </a:highlight>
              </a:rPr>
              <a:t>Week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</a:p>
          <a:p>
            <a:pPr algn="ctr"/>
            <a:r>
              <a:rPr lang="en-US" sz="2800" dirty="0">
                <a:solidFill>
                  <a:srgbClr val="FF0000"/>
                </a:solidFill>
                <a:highlight>
                  <a:srgbClr val="FFFF00"/>
                </a:highlight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043737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79CAAD0-D39B-FD32-0C82-F9BC7295E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00" y="497506"/>
            <a:ext cx="10779760" cy="1450757"/>
          </a:xfrm>
        </p:spPr>
        <p:txBody>
          <a:bodyPr/>
          <a:lstStyle/>
          <a:p>
            <a:r>
              <a:rPr lang="en-US" altLang="zh-TW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BBC Learning English</a:t>
            </a:r>
            <a:endParaRPr lang="zh-TW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A3171D4-C3A5-B6BA-24D8-F2EF4AEA1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A55B7815-05FA-48A0-B9F7-1E04C4F2927A}" type="datetime1">
              <a:rPr lang="zh-TW" altLang="en-US" smtClean="0"/>
              <a:t>2025/9/25</a:t>
            </a:fld>
            <a:endParaRPr lang="en-US" dirty="0"/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431929C7-417E-1498-B81E-1A0D908C58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960" y="2131916"/>
            <a:ext cx="8306959" cy="197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53891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79CAAD0-D39B-FD32-0C82-F9BC7295E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00" y="497506"/>
            <a:ext cx="10779760" cy="1450757"/>
          </a:xfrm>
        </p:spPr>
        <p:txBody>
          <a:bodyPr/>
          <a:lstStyle/>
          <a:p>
            <a:r>
              <a:rPr lang="en-US" altLang="zh-TW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BBC Learning English</a:t>
            </a:r>
            <a:endParaRPr lang="zh-TW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A3171D4-C3A5-B6BA-24D8-F2EF4AEA1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A55B7815-05FA-48A0-B9F7-1E04C4F2927A}" type="datetime1">
              <a:rPr lang="zh-TW" altLang="en-US" smtClean="0"/>
              <a:t>2025/9/25</a:t>
            </a:fld>
            <a:endParaRPr lang="en-US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8DEA198C-027A-44E7-17BD-CA0302EED0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451156"/>
            <a:ext cx="5323840" cy="2247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54254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79CAAD0-D39B-FD32-0C82-F9BC7295E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00" y="497506"/>
            <a:ext cx="10779760" cy="1450757"/>
          </a:xfrm>
        </p:spPr>
        <p:txBody>
          <a:bodyPr/>
          <a:lstStyle/>
          <a:p>
            <a:r>
              <a:rPr lang="en-US" altLang="zh-TW" dirty="0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BBC Learning English</a:t>
            </a:r>
            <a:endParaRPr lang="zh-TW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250924_LEFTN_trumps_unproven_autism_claim_download">
            <a:hlinkClick r:id="" action="ppaction://media"/>
            <a:extLst>
              <a:ext uri="{FF2B5EF4-FFF2-40B4-BE49-F238E27FC236}">
                <a16:creationId xmlns:a16="http://schemas.microsoft.com/office/drawing/2014/main" id="{C36491E7-BE97-78CE-1226-2C87F10BADCA}"/>
              </a:ext>
            </a:extLst>
          </p:cNvPr>
          <p:cNvPicPr>
            <a:picLocks noGrp="1" noChangeAspect="1"/>
          </p:cNvPicPr>
          <p:nvPr>
            <p:ph idx="1"/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980599" y="2646998"/>
            <a:ext cx="487362" cy="487362"/>
          </a:xfrm>
        </p:spPr>
      </p:pic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A3171D4-C3A5-B6BA-24D8-F2EF4AEA1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A55B7815-05FA-48A0-B9F7-1E04C4F2927A}" type="datetime1">
              <a:rPr lang="zh-TW" altLang="en-US" smtClean="0"/>
              <a:t>2025/9/25</a:t>
            </a:fld>
            <a:endParaRPr 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3BB00B7C-B5DC-A327-5624-0238DCFC87D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79599" y="1948263"/>
            <a:ext cx="5579745" cy="486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646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89456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0A936DA-2232-D6AF-6438-D3037493B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186597"/>
          </a:xfrm>
        </p:spPr>
        <p:txBody>
          <a:bodyPr>
            <a:normAutofit/>
          </a:bodyPr>
          <a:lstStyle/>
          <a:p>
            <a:r>
              <a:rPr lang="en-US" altLang="zh-TW" sz="3600" dirty="0">
                <a:solidFill>
                  <a:srgbClr val="00B0F0"/>
                </a:solidFill>
                <a:latin typeface="STXihei" panose="02010600040101010101" pitchFamily="2" charset="-122"/>
                <a:ea typeface="STXihei" panose="02010600040101010101" pitchFamily="2" charset="-122"/>
              </a:rPr>
              <a:t>Online resources for today</a:t>
            </a:r>
            <a:endParaRPr lang="zh-TW" altLang="en-US" sz="3600" dirty="0">
              <a:solidFill>
                <a:srgbClr val="00B0F0"/>
              </a:solidFill>
              <a:latin typeface="STXihei" panose="02010600040101010101" pitchFamily="2" charset="-122"/>
              <a:ea typeface="STXihei" panose="02010600040101010101" pitchFamily="2" charset="-122"/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7EFE5D59-A075-4C63-7800-D1BEE5BF17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30832"/>
            <a:ext cx="54502" cy="4616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br>
              <a:rPr kumimoji="0" lang="zh-TW" altLang="zh-TW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PingFang-SC"/>
              </a:rPr>
            </a:br>
            <a:endParaRPr kumimoji="0" lang="zh-TW" altLang="zh-TW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CF34B455-DEED-E592-F9C2-3E86001B43C0}"/>
              </a:ext>
            </a:extLst>
          </p:cNvPr>
          <p:cNvSpPr txBox="1"/>
          <p:nvPr/>
        </p:nvSpPr>
        <p:spPr>
          <a:xfrm>
            <a:off x="1161908" y="1944650"/>
            <a:ext cx="41938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>
                <a:hlinkClick r:id="rId2"/>
              </a:rPr>
              <a:t>Original</a:t>
            </a:r>
            <a:r>
              <a:rPr lang="zh-TW" altLang="en-US" dirty="0">
                <a:hlinkClick r:id="rId2"/>
              </a:rPr>
              <a:t> </a:t>
            </a:r>
            <a:r>
              <a:rPr lang="en-US" altLang="zh-TW" dirty="0">
                <a:hlinkClick r:id="rId2"/>
              </a:rPr>
              <a:t>Article</a:t>
            </a:r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CD5E404D-984D-D0A0-F701-A0521A20C5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496204"/>
            <a:ext cx="6257068" cy="5361796"/>
          </a:xfrm>
          <a:prstGeom prst="rect">
            <a:avLst/>
          </a:prstGeom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87CCDA00-68AD-5712-71E5-83FA97DDD6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0445" y="2599054"/>
            <a:ext cx="3771900" cy="3771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62034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C20C0E6-D6C1-79AF-99DE-52A80C592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Listen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E40B416-9273-FA26-2649-61181B781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976880"/>
            <a:ext cx="10058400" cy="2892212"/>
          </a:xfrm>
        </p:spPr>
        <p:txBody>
          <a:bodyPr/>
          <a:lstStyle/>
          <a:p>
            <a:r>
              <a:rPr lang="en-US" altLang="zh-TW" dirty="0">
                <a:solidFill>
                  <a:srgbClr val="333333"/>
                </a:solidFill>
                <a:highlight>
                  <a:srgbClr val="00FFFF"/>
                </a:highlight>
                <a:latin typeface="Arial" panose="020B0604020202020204" pitchFamily="34" charset="0"/>
              </a:rPr>
              <a:t>Two persons, two views</a:t>
            </a:r>
            <a:endParaRPr lang="zh-TW" altLang="en-US" dirty="0">
              <a:highlight>
                <a:srgbClr val="00FFFF"/>
              </a:highlight>
            </a:endParaRPr>
          </a:p>
          <a:p>
            <a:pPr algn="l"/>
            <a:r>
              <a:rPr lang="en-US" altLang="zh-TW" b="0" i="0" dirty="0">
                <a:solidFill>
                  <a:srgbClr val="333333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Neil</a:t>
            </a:r>
            <a:r>
              <a:rPr lang="en-US" altLang="zh-TW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lang="en-US" altLang="zh-TW" b="0" i="0" dirty="0">
                <a:solidFill>
                  <a:srgbClr val="333333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Georgie</a:t>
            </a:r>
            <a:r>
              <a:rPr lang="en-US" altLang="zh-TW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have a real conversation in easy English about </a:t>
            </a:r>
          </a:p>
          <a:p>
            <a:pPr algn="l"/>
            <a:r>
              <a:rPr lang="en-US" altLang="zh-TW" sz="2800" b="0" i="0" dirty="0"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spending time with friends</a:t>
            </a:r>
            <a:r>
              <a:rPr lang="en-US" altLang="zh-TW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algn="l"/>
            <a:r>
              <a:rPr lang="en-US" altLang="zh-TW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Learn to talk about what you do with your friends and whether you like </a:t>
            </a:r>
            <a:r>
              <a:rPr lang="en-US" altLang="zh-TW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socialising</a:t>
            </a:r>
            <a:r>
              <a:rPr lang="en-US" altLang="zh-TW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algn="l"/>
            <a:endParaRPr lang="en-US" altLang="zh-TW" dirty="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94F3CA6-4582-6B5B-D411-1FF5A6699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A55B7815-05FA-48A0-B9F7-1E04C4F2927A}" type="datetime1">
              <a:rPr lang="zh-TW" altLang="en-US" smtClean="0"/>
              <a:t>2025/9/25</a:t>
            </a:fld>
            <a:endParaRPr lang="en-US" dirty="0"/>
          </a:p>
        </p:txBody>
      </p:sp>
      <p:pic>
        <p:nvPicPr>
          <p:cNvPr id="7" name="RealEasyEnglish_socialising_download">
            <a:hlinkClick r:id="" action="ppaction://media"/>
            <a:extLst>
              <a:ext uri="{FF2B5EF4-FFF2-40B4-BE49-F238E27FC236}">
                <a16:creationId xmlns:a16="http://schemas.microsoft.com/office/drawing/2014/main" id="{3DDD05C7-1B8B-C1DA-A365-7552D164BC9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79195" y="2271714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2463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39144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F127CEE-65AE-0016-1F6A-E6471CD73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Vocabulary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B3EFA33-D942-484B-C923-62FFF16C69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954924"/>
            <a:ext cx="5265683" cy="4374755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en-US" altLang="zh-TW" b="1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socialise</a:t>
            </a:r>
            <a:br>
              <a:rPr lang="en-US" altLang="zh-TW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</a:br>
            <a:r>
              <a:rPr lang="en-US" altLang="zh-TW" b="1" i="0" dirty="0">
                <a:solidFill>
                  <a:srgbClr val="00ADB5"/>
                </a:solidFill>
                <a:effectLst/>
                <a:latin typeface="Inter"/>
              </a:rPr>
              <a:t>Definition:</a:t>
            </a:r>
            <a:r>
              <a:rPr lang="en-US" altLang="zh-TW" b="0" i="0" dirty="0">
                <a:solidFill>
                  <a:srgbClr val="0070C0"/>
                </a:solidFill>
                <a:effectLst/>
                <a:latin typeface="Inter"/>
              </a:rPr>
              <a:t> </a:t>
            </a:r>
            <a:r>
              <a:rPr lang="en-US" altLang="zh-TW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spend time with people for fun, like friends or family.</a:t>
            </a:r>
            <a:br>
              <a:rPr lang="en-US" altLang="zh-TW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</a:br>
            <a:r>
              <a:rPr lang="en-US" altLang="zh-TW" b="1" i="0" dirty="0">
                <a:solidFill>
                  <a:srgbClr val="00ADB5"/>
                </a:solidFill>
                <a:effectLst/>
                <a:latin typeface="Inter"/>
              </a:rPr>
              <a:t>Example:</a:t>
            </a:r>
            <a:r>
              <a:rPr lang="en-US" altLang="zh-TW" b="0" i="1" dirty="0">
                <a:solidFill>
                  <a:srgbClr val="9CA3AF"/>
                </a:solidFill>
                <a:effectLst/>
                <a:latin typeface="Inter"/>
              </a:rPr>
              <a:t> "I love to socialize with my friends on weekends."</a:t>
            </a:r>
            <a:endParaRPr lang="en-US" altLang="zh-TW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algn="l"/>
            <a:r>
              <a:rPr lang="en-US" altLang="zh-TW" b="1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small talk</a:t>
            </a:r>
            <a:br>
              <a:rPr lang="en-US" altLang="zh-TW" b="1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</a:br>
            <a:r>
              <a:rPr lang="en-US" altLang="zh-TW" b="1" i="0" dirty="0">
                <a:solidFill>
                  <a:srgbClr val="00ADB5"/>
                </a:solidFill>
                <a:effectLst/>
                <a:latin typeface="Inter"/>
              </a:rPr>
              <a:t>Definition:</a:t>
            </a:r>
            <a:r>
              <a:rPr lang="en-US" altLang="zh-TW" b="0" i="0" dirty="0">
                <a:solidFill>
                  <a:srgbClr val="0070C0"/>
                </a:solidFill>
                <a:effectLst/>
                <a:latin typeface="Inter"/>
              </a:rPr>
              <a:t> </a:t>
            </a:r>
            <a:r>
              <a:rPr lang="en-US" altLang="zh-TW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conversation about unimportant things, like the weather, usually with people you don't know well</a:t>
            </a:r>
            <a:br>
              <a:rPr lang="en-US" altLang="zh-TW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</a:br>
            <a:r>
              <a:rPr lang="en-US" altLang="zh-TW" b="1" i="0" dirty="0">
                <a:solidFill>
                  <a:srgbClr val="00ADB5"/>
                </a:solidFill>
                <a:effectLst/>
                <a:latin typeface="Inter"/>
              </a:rPr>
              <a:t>Example:</a:t>
            </a:r>
            <a:r>
              <a:rPr lang="en-US" altLang="zh-TW" b="0" i="1" dirty="0">
                <a:solidFill>
                  <a:srgbClr val="9CA3AF"/>
                </a:solidFill>
                <a:effectLst/>
                <a:latin typeface="Inter"/>
              </a:rPr>
              <a:t> "Neil doesn't like small talk because he finds it empty."</a:t>
            </a:r>
            <a:endParaRPr lang="en-US" altLang="zh-TW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algn="l"/>
            <a:r>
              <a:rPr lang="en-US" altLang="zh-TW" b="1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awkward</a:t>
            </a:r>
            <a:br>
              <a:rPr lang="en-US" altLang="zh-TW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</a:br>
            <a:r>
              <a:rPr lang="en-US" altLang="zh-TW" b="1" i="0" dirty="0">
                <a:solidFill>
                  <a:srgbClr val="00ADB5"/>
                </a:solidFill>
                <a:effectLst/>
                <a:latin typeface="Inter"/>
              </a:rPr>
              <a:t>Definition:</a:t>
            </a:r>
            <a:r>
              <a:rPr lang="en-US" altLang="zh-TW" b="0" i="0" dirty="0">
                <a:solidFill>
                  <a:srgbClr val="0070C0"/>
                </a:solidFill>
                <a:effectLst/>
                <a:latin typeface="Inter"/>
              </a:rPr>
              <a:t> Feeling uncomfortable or strange in a situation, especially when meeting new people.</a:t>
            </a:r>
            <a:br>
              <a:rPr lang="en-US" altLang="zh-TW" b="0" i="0" dirty="0">
                <a:solidFill>
                  <a:srgbClr val="0070C0"/>
                </a:solidFill>
                <a:effectLst/>
                <a:latin typeface="Inter"/>
              </a:rPr>
            </a:br>
            <a:r>
              <a:rPr lang="en-US" altLang="zh-TW" b="1" i="0" dirty="0">
                <a:solidFill>
                  <a:srgbClr val="00ADB5"/>
                </a:solidFill>
                <a:effectLst/>
                <a:latin typeface="Inter"/>
              </a:rPr>
              <a:t>Example:</a:t>
            </a:r>
            <a:r>
              <a:rPr lang="en-US" altLang="zh-TW" b="0" i="1" dirty="0">
                <a:solidFill>
                  <a:srgbClr val="9CA3AF"/>
                </a:solidFill>
                <a:effectLst/>
                <a:latin typeface="Inter"/>
              </a:rPr>
              <a:t> "Neil finds small talk awkward."</a:t>
            </a:r>
            <a:endParaRPr lang="en-US" altLang="zh-TW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algn="l"/>
            <a:r>
              <a:rPr lang="en-US" altLang="zh-TW" b="1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embarrassed</a:t>
            </a:r>
            <a:br>
              <a:rPr lang="en-US" altLang="zh-TW" b="1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</a:br>
            <a:r>
              <a:rPr lang="en-US" altLang="zh-TW" b="1" i="0" dirty="0">
                <a:solidFill>
                  <a:srgbClr val="00ADB5"/>
                </a:solidFill>
                <a:effectLst/>
                <a:latin typeface="Inter"/>
              </a:rPr>
              <a:t>Definition: </a:t>
            </a:r>
            <a:r>
              <a:rPr lang="en-US" altLang="zh-TW" b="0" i="0" dirty="0">
                <a:solidFill>
                  <a:srgbClr val="0070C0"/>
                </a:solidFill>
                <a:effectLst/>
                <a:latin typeface="Inter"/>
              </a:rPr>
              <a:t>Feeling ashamed or uncomfortable, often because of something you did or said.</a:t>
            </a:r>
            <a:br>
              <a:rPr lang="en-US" altLang="zh-TW" b="0" i="0" dirty="0">
                <a:solidFill>
                  <a:srgbClr val="0070C0"/>
                </a:solidFill>
                <a:effectLst/>
                <a:latin typeface="Inter"/>
              </a:rPr>
            </a:br>
            <a:r>
              <a:rPr lang="en-US" altLang="zh-TW" b="1" i="0" dirty="0">
                <a:solidFill>
                  <a:srgbClr val="00ADB5"/>
                </a:solidFill>
                <a:effectLst/>
                <a:latin typeface="Inter"/>
              </a:rPr>
              <a:t>Example:</a:t>
            </a:r>
            <a:r>
              <a:rPr lang="en-US" altLang="zh-TW" b="0" i="1" dirty="0">
                <a:solidFill>
                  <a:srgbClr val="9CA3AF"/>
                </a:solidFill>
                <a:effectLst/>
                <a:latin typeface="Inter"/>
              </a:rPr>
              <a:t> "Sometimes Neil feels embarrassed when he doesn't find something in common with new people."</a:t>
            </a:r>
            <a:endParaRPr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D5580A8-EF0E-4E40-3439-77EC6B89C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A55B7815-05FA-48A0-B9F7-1E04C4F2927A}" type="datetime1">
              <a:rPr lang="zh-TW" altLang="en-US" smtClean="0"/>
              <a:t>2025/9/25</a:t>
            </a:fld>
            <a:endParaRPr lang="en-US" dirty="0"/>
          </a:p>
        </p:txBody>
      </p:sp>
      <p:sp>
        <p:nvSpPr>
          <p:cNvPr id="5" name="內容版面配置區 2">
            <a:extLst>
              <a:ext uri="{FF2B5EF4-FFF2-40B4-BE49-F238E27FC236}">
                <a16:creationId xmlns:a16="http://schemas.microsoft.com/office/drawing/2014/main" id="{582A5435-B465-A95A-B5A3-BD74142A9DCA}"/>
              </a:ext>
            </a:extLst>
          </p:cNvPr>
          <p:cNvSpPr txBox="1">
            <a:spLocks/>
          </p:cNvSpPr>
          <p:nvPr/>
        </p:nvSpPr>
        <p:spPr>
          <a:xfrm>
            <a:off x="6640436" y="1917086"/>
            <a:ext cx="5265683" cy="4260193"/>
          </a:xfrm>
          <a:prstGeom prst="rect">
            <a:avLst/>
          </a:prstGeom>
        </p:spPr>
        <p:txBody>
          <a:bodyPr vert="horz" lIns="0" tIns="45720" rIns="0" bIns="45720" rtlCol="0">
            <a:normAutofit fontScale="77500" lnSpcReduction="20000"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TW" b="1" i="0" dirty="0">
                <a:solidFill>
                  <a:schemeClr val="tx1"/>
                </a:solidFill>
                <a:effectLst/>
                <a:latin typeface="Inter"/>
              </a:rPr>
              <a:t>Grown-ups</a:t>
            </a:r>
            <a:br>
              <a:rPr lang="en-US" altLang="zh-TW" b="1" i="0" dirty="0">
                <a:solidFill>
                  <a:srgbClr val="00ADB5"/>
                </a:solidFill>
                <a:effectLst/>
                <a:latin typeface="Inter"/>
              </a:rPr>
            </a:br>
            <a:r>
              <a:rPr lang="en-US" altLang="zh-TW" b="1" i="0" dirty="0">
                <a:solidFill>
                  <a:srgbClr val="00ADB5"/>
                </a:solidFill>
                <a:effectLst/>
                <a:latin typeface="Inter"/>
              </a:rPr>
              <a:t>Definition:</a:t>
            </a:r>
            <a:r>
              <a:rPr lang="en-US" altLang="zh-TW" b="0" i="0" dirty="0">
                <a:solidFill>
                  <a:srgbClr val="D1D5DB"/>
                </a:solidFill>
                <a:effectLst/>
                <a:latin typeface="Inter"/>
              </a:rPr>
              <a:t> Adult people, not children.</a:t>
            </a:r>
            <a:br>
              <a:rPr lang="en-US" altLang="zh-TW" b="0" i="0" dirty="0">
                <a:solidFill>
                  <a:srgbClr val="D1D5DB"/>
                </a:solidFill>
                <a:effectLst/>
                <a:latin typeface="Inter"/>
              </a:rPr>
            </a:br>
            <a:r>
              <a:rPr lang="en-US" altLang="zh-TW" b="1" i="0" dirty="0">
                <a:solidFill>
                  <a:srgbClr val="00ADB5"/>
                </a:solidFill>
                <a:effectLst/>
                <a:latin typeface="Inter"/>
              </a:rPr>
              <a:t>Example:</a:t>
            </a:r>
            <a:r>
              <a:rPr lang="en-US" altLang="zh-TW" b="0" i="1" dirty="0">
                <a:solidFill>
                  <a:srgbClr val="9CA3AF"/>
                </a:solidFill>
                <a:effectLst/>
                <a:latin typeface="Inter"/>
              </a:rPr>
              <a:t> "Grown-ups often have many responsibilities, like work and family."</a:t>
            </a:r>
          </a:p>
          <a:p>
            <a:pPr algn="l"/>
            <a:r>
              <a:rPr lang="en-US" altLang="zh-TW" b="1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have</a:t>
            </a:r>
            <a:r>
              <a:rPr lang="en-US" altLang="zh-TW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US" altLang="zh-TW" b="1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(something) in common</a:t>
            </a:r>
            <a:br>
              <a:rPr lang="en-US" altLang="zh-TW" b="1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</a:br>
            <a:r>
              <a:rPr lang="en-US" altLang="zh-TW" b="1" i="0" dirty="0">
                <a:solidFill>
                  <a:srgbClr val="00ADB5"/>
                </a:solidFill>
                <a:effectLst/>
                <a:latin typeface="Inter"/>
              </a:rPr>
              <a:t>Definition:</a:t>
            </a:r>
            <a:r>
              <a:rPr lang="en-US" altLang="zh-TW" b="0" i="0" dirty="0">
                <a:solidFill>
                  <a:srgbClr val="0070C0"/>
                </a:solidFill>
                <a:effectLst/>
                <a:latin typeface="Inter"/>
              </a:rPr>
              <a:t> </a:t>
            </a:r>
            <a:r>
              <a:rPr lang="en-US" altLang="zh-TW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share the same interests, likes or dislikes </a:t>
            </a:r>
            <a:br>
              <a:rPr lang="en-US" altLang="zh-TW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</a:br>
            <a:r>
              <a:rPr lang="en-US" altLang="zh-TW" b="1" i="0" dirty="0">
                <a:solidFill>
                  <a:srgbClr val="00ADB5"/>
                </a:solidFill>
                <a:effectLst/>
                <a:latin typeface="Inter"/>
              </a:rPr>
              <a:t>Example:</a:t>
            </a:r>
            <a:r>
              <a:rPr lang="en-US" altLang="zh-TW" b="0" i="1" dirty="0">
                <a:solidFill>
                  <a:srgbClr val="9CA3AF"/>
                </a:solidFill>
                <a:effectLst/>
                <a:latin typeface="Inter"/>
              </a:rPr>
              <a:t> "If you find something in common with someone, it's easier to talk."</a:t>
            </a:r>
            <a:endParaRPr lang="en-US" altLang="zh-TW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algn="l"/>
            <a:r>
              <a:rPr lang="en-US" altLang="zh-TW" b="1" dirty="0">
                <a:solidFill>
                  <a:srgbClr val="333333"/>
                </a:solidFill>
                <a:latin typeface="Arial" panose="020B0604020202020204" pitchFamily="34" charset="0"/>
              </a:rPr>
              <a:t>Social burnout</a:t>
            </a:r>
            <a:br>
              <a:rPr lang="en-US" altLang="zh-TW" b="1" dirty="0">
                <a:solidFill>
                  <a:srgbClr val="333333"/>
                </a:solidFill>
                <a:latin typeface="Arial" panose="020B0604020202020204" pitchFamily="34" charset="0"/>
              </a:rPr>
            </a:br>
            <a:r>
              <a:rPr lang="en-US" altLang="zh-TW" sz="1600" b="1" i="0" dirty="0">
                <a:solidFill>
                  <a:srgbClr val="00ADB5"/>
                </a:solidFill>
                <a:effectLst/>
                <a:latin typeface="Inter"/>
              </a:rPr>
              <a:t>Definition:</a:t>
            </a:r>
            <a:r>
              <a:rPr lang="en-US" altLang="zh-TW" sz="1600" b="0" i="0" dirty="0">
                <a:solidFill>
                  <a:srgbClr val="0070C0"/>
                </a:solidFill>
                <a:effectLst/>
                <a:latin typeface="Inter"/>
              </a:rPr>
              <a:t> </a:t>
            </a:r>
            <a:r>
              <a:rPr lang="en-US" altLang="zh-TW" sz="1600" dirty="0">
                <a:solidFill>
                  <a:srgbClr val="0070C0"/>
                </a:solidFill>
                <a:latin typeface="Inter"/>
              </a:rPr>
              <a:t>Feeling very tired and exhausted because you have spent too much time with other people.</a:t>
            </a:r>
            <a:br>
              <a:rPr lang="en-US" altLang="zh-TW" sz="1600" dirty="0">
                <a:solidFill>
                  <a:srgbClr val="0070C0"/>
                </a:solidFill>
                <a:latin typeface="Inter"/>
              </a:rPr>
            </a:br>
            <a:r>
              <a:rPr lang="en-US" altLang="zh-TW" i="1" dirty="0">
                <a:solidFill>
                  <a:srgbClr val="0070C0"/>
                </a:solidFill>
                <a:latin typeface="Arial" panose="020B0604020202020204" pitchFamily="34" charset="0"/>
              </a:rPr>
              <a:t>Example</a:t>
            </a:r>
            <a:r>
              <a:rPr lang="en-US" altLang="zh-TW" dirty="0">
                <a:solidFill>
                  <a:srgbClr val="0070C0"/>
                </a:solidFill>
                <a:latin typeface="Arial" panose="020B0604020202020204" pitchFamily="34" charset="0"/>
              </a:rPr>
              <a:t>: Georgie sometimes </a:t>
            </a:r>
            <a:r>
              <a:rPr lang="en-US" altLang="zh-TW" b="0" i="0" dirty="0"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experiences social burnout after many social plans.</a:t>
            </a:r>
          </a:p>
          <a:p>
            <a:pPr algn="l"/>
            <a:r>
              <a:rPr lang="en-US" altLang="zh-TW" b="1" dirty="0">
                <a:solidFill>
                  <a:srgbClr val="333333"/>
                </a:solidFill>
                <a:latin typeface="Arial" panose="020B0604020202020204" pitchFamily="34" charset="0"/>
              </a:rPr>
              <a:t>Recap</a:t>
            </a:r>
            <a:br>
              <a:rPr lang="en-US" altLang="zh-TW" b="1" dirty="0">
                <a:solidFill>
                  <a:srgbClr val="333333"/>
                </a:solidFill>
                <a:latin typeface="Arial" panose="020B0604020202020204" pitchFamily="34" charset="0"/>
              </a:rPr>
            </a:br>
            <a:r>
              <a:rPr lang="en-US" altLang="zh-TW" b="1" i="0" dirty="0">
                <a:solidFill>
                  <a:srgbClr val="00ADB5"/>
                </a:solidFill>
                <a:effectLst/>
                <a:latin typeface="Inter"/>
              </a:rPr>
              <a:t>Definition:</a:t>
            </a:r>
            <a:r>
              <a:rPr lang="en-US" altLang="zh-TW" b="0" i="0" dirty="0">
                <a:solidFill>
                  <a:srgbClr val="0070C0"/>
                </a:solidFill>
                <a:effectLst/>
                <a:latin typeface="Inter"/>
              </a:rPr>
              <a:t> </a:t>
            </a:r>
            <a:r>
              <a:rPr lang="en-US" altLang="zh-TW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To summarize or repeat the main ideas or points of something.</a:t>
            </a:r>
            <a:br>
              <a:rPr lang="en-US" altLang="zh-TW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</a:br>
            <a:r>
              <a:rPr lang="en-US" altLang="zh-TW" b="0" i="1" dirty="0"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Example</a:t>
            </a:r>
            <a:r>
              <a:rPr lang="en-US" altLang="zh-TW" b="0" i="0" dirty="0"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: "At the end of the podcast, Neil and Georgie recap the new vocabulary."</a:t>
            </a:r>
            <a:endParaRPr lang="zh-TW" alt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21640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F7F9C80-D71B-BDD7-1402-E3D98A1D0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Arial" panose="020B0604020202020204" pitchFamily="34" charset="0"/>
                <a:cs typeface="Arial" panose="020B0604020202020204" pitchFamily="34" charset="0"/>
              </a:rPr>
              <a:t>Speak</a:t>
            </a:r>
            <a:endParaRPr lang="zh-TW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85D6469-17D8-C5E2-7B0A-DA8167C7F0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l"/>
            <a:r>
              <a:rPr lang="en-US" altLang="zh-TW" b="0" i="0" dirty="0">
                <a:solidFill>
                  <a:srgbClr val="1F1F1F"/>
                </a:solidFill>
                <a:effectLst/>
                <a:latin typeface="Noto Serif TC" panose="02020200000000000000" pitchFamily="18" charset="-120"/>
                <a:ea typeface="Noto Serif TC" panose="02020200000000000000" pitchFamily="18" charset="-120"/>
              </a:rPr>
              <a:t>1. The podcast speaks about getting </a:t>
            </a:r>
            <a:r>
              <a:rPr lang="en-US" altLang="zh-TW" b="1" i="0" dirty="0">
                <a:solidFill>
                  <a:srgbClr val="1F1F1F"/>
                </a:solidFill>
                <a:effectLst/>
                <a:latin typeface="Noto Serif TC" panose="02020200000000000000" pitchFamily="18" charset="-120"/>
                <a:ea typeface="Noto Serif TC" panose="02020200000000000000" pitchFamily="18" charset="-120"/>
              </a:rPr>
              <a:t>social burnout</a:t>
            </a:r>
            <a:r>
              <a:rPr lang="en-US" altLang="zh-TW" b="0" i="0" dirty="0">
                <a:solidFill>
                  <a:srgbClr val="1F1F1F"/>
                </a:solidFill>
                <a:effectLst/>
                <a:latin typeface="Noto Serif TC" panose="02020200000000000000" pitchFamily="18" charset="-120"/>
                <a:ea typeface="Noto Serif TC" panose="02020200000000000000" pitchFamily="18" charset="-120"/>
              </a:rPr>
              <a:t> and needing time alone. Which do you prefer: </a:t>
            </a:r>
            <a:r>
              <a:rPr lang="en-US" altLang="zh-TW" b="1" i="0" dirty="0">
                <a:solidFill>
                  <a:srgbClr val="1F1F1F"/>
                </a:solidFill>
                <a:effectLst/>
                <a:latin typeface="Noto Serif TC" panose="02020200000000000000" pitchFamily="18" charset="-120"/>
                <a:ea typeface="Noto Serif TC" panose="02020200000000000000" pitchFamily="18" charset="-120"/>
              </a:rPr>
              <a:t>spending time alone</a:t>
            </a:r>
            <a:r>
              <a:rPr lang="en-US" altLang="zh-TW" b="0" i="0" dirty="0">
                <a:solidFill>
                  <a:srgbClr val="1F1F1F"/>
                </a:solidFill>
                <a:effectLst/>
                <a:latin typeface="Noto Serif TC" panose="02020200000000000000" pitchFamily="18" charset="-120"/>
                <a:ea typeface="Noto Serif TC" panose="02020200000000000000" pitchFamily="18" charset="-120"/>
              </a:rPr>
              <a:t> to relax and get energy, or </a:t>
            </a:r>
            <a:r>
              <a:rPr lang="en-US" altLang="zh-TW" b="1" i="0" dirty="0">
                <a:solidFill>
                  <a:srgbClr val="1F1F1F"/>
                </a:solidFill>
                <a:effectLst/>
                <a:latin typeface="Noto Serif TC" panose="02020200000000000000" pitchFamily="18" charset="-120"/>
                <a:ea typeface="Noto Serif TC" panose="02020200000000000000" pitchFamily="18" charset="-120"/>
              </a:rPr>
              <a:t>hanging out with friends</a:t>
            </a:r>
            <a:r>
              <a:rPr lang="en-US" altLang="zh-TW" b="0" i="0" dirty="0">
                <a:solidFill>
                  <a:srgbClr val="1F1F1F"/>
                </a:solidFill>
                <a:effectLst/>
                <a:latin typeface="Noto Serif TC" panose="02020200000000000000" pitchFamily="18" charset="-120"/>
                <a:ea typeface="Noto Serif TC" panose="02020200000000000000" pitchFamily="18" charset="-120"/>
              </a:rPr>
              <a:t>? </a:t>
            </a:r>
          </a:p>
          <a:p>
            <a:pPr algn="l"/>
            <a:r>
              <a:rPr lang="en-US" altLang="zh-TW" dirty="0">
                <a:solidFill>
                  <a:srgbClr val="1F1F1F"/>
                </a:solidFill>
                <a:latin typeface="Noto Serif TC" panose="02020200000000000000" pitchFamily="18" charset="-120"/>
                <a:ea typeface="Noto Serif TC" panose="02020200000000000000" pitchFamily="18" charset="-120"/>
              </a:rPr>
              <a:t>2. </a:t>
            </a:r>
            <a:r>
              <a:rPr lang="en-US" altLang="zh-TW" b="0" i="0" dirty="0">
                <a:solidFill>
                  <a:srgbClr val="1F1F1F"/>
                </a:solidFill>
                <a:effectLst/>
                <a:latin typeface="Noto Serif TC" panose="02020200000000000000" pitchFamily="18" charset="-120"/>
                <a:ea typeface="Noto Serif TC" panose="02020200000000000000" pitchFamily="18" charset="-120"/>
              </a:rPr>
              <a:t>How do you feel if you are alone </a:t>
            </a:r>
            <a:r>
              <a:rPr lang="en-US" altLang="zh-TW" i="0" dirty="0">
                <a:solidFill>
                  <a:srgbClr val="1F1F1F"/>
                </a:solidFill>
                <a:effectLst/>
                <a:latin typeface="Noto Serif TC" panose="02020200000000000000" pitchFamily="18" charset="-120"/>
                <a:ea typeface="Noto Serif TC" panose="02020200000000000000" pitchFamily="18" charset="-120"/>
              </a:rPr>
              <a:t>for too long</a:t>
            </a:r>
            <a:r>
              <a:rPr lang="en-US" altLang="zh-TW" b="0" i="0" dirty="0">
                <a:solidFill>
                  <a:srgbClr val="1F1F1F"/>
                </a:solidFill>
                <a:effectLst/>
                <a:latin typeface="Noto Serif TC" panose="02020200000000000000" pitchFamily="18" charset="-120"/>
                <a:ea typeface="Noto Serif TC" panose="02020200000000000000" pitchFamily="18" charset="-120"/>
              </a:rPr>
              <a:t>?</a:t>
            </a:r>
          </a:p>
          <a:p>
            <a:pPr algn="l"/>
            <a:r>
              <a:rPr lang="en-US" altLang="zh-TW" b="0" i="0" dirty="0">
                <a:solidFill>
                  <a:srgbClr val="1F1F1F"/>
                </a:solidFill>
                <a:effectLst/>
                <a:latin typeface="Noto Serif TC" panose="02020200000000000000" pitchFamily="18" charset="-120"/>
                <a:ea typeface="Noto Serif TC" panose="02020200000000000000" pitchFamily="18" charset="-120"/>
              </a:rPr>
              <a:t>3. When socializing, do you prefer </a:t>
            </a:r>
            <a:r>
              <a:rPr lang="en-US" altLang="zh-TW" b="1" i="0" dirty="0">
                <a:solidFill>
                  <a:srgbClr val="1F1F1F"/>
                </a:solidFill>
                <a:effectLst/>
                <a:latin typeface="Noto Serif TC" panose="02020200000000000000" pitchFamily="18" charset="-120"/>
                <a:ea typeface="Noto Serif TC" panose="02020200000000000000" pitchFamily="18" charset="-120"/>
              </a:rPr>
              <a:t>big parties</a:t>
            </a:r>
            <a:r>
              <a:rPr lang="en-US" altLang="zh-TW" b="0" i="0" dirty="0">
                <a:solidFill>
                  <a:srgbClr val="1F1F1F"/>
                </a:solidFill>
                <a:effectLst/>
                <a:latin typeface="Noto Serif TC" panose="02020200000000000000" pitchFamily="18" charset="-120"/>
                <a:ea typeface="Noto Serif TC" panose="02020200000000000000" pitchFamily="18" charset="-120"/>
              </a:rPr>
              <a:t> because you like meeting new people and dancing, or do you prefer </a:t>
            </a:r>
            <a:r>
              <a:rPr lang="en-US" altLang="zh-TW" b="1" i="0" dirty="0">
                <a:solidFill>
                  <a:srgbClr val="1F1F1F"/>
                </a:solidFill>
                <a:effectLst/>
                <a:latin typeface="Noto Serif TC" panose="02020200000000000000" pitchFamily="18" charset="-120"/>
                <a:ea typeface="Noto Serif TC" panose="02020200000000000000" pitchFamily="18" charset="-120"/>
              </a:rPr>
              <a:t>smaller social events</a:t>
            </a:r>
            <a:r>
              <a:rPr lang="en-US" altLang="zh-TW" b="0" i="0" dirty="0">
                <a:solidFill>
                  <a:srgbClr val="1F1F1F"/>
                </a:solidFill>
                <a:effectLst/>
                <a:latin typeface="Noto Serif TC" panose="02020200000000000000" pitchFamily="18" charset="-120"/>
                <a:ea typeface="Noto Serif TC" panose="02020200000000000000" pitchFamily="18" charset="-120"/>
              </a:rPr>
              <a:t> where you can have "deeper conversations" with fewer people?</a:t>
            </a:r>
          </a:p>
          <a:p>
            <a:pPr algn="l"/>
            <a:r>
              <a:rPr lang="en-US" altLang="zh-TW" b="0" i="0" dirty="0">
                <a:solidFill>
                  <a:srgbClr val="1F1F1F"/>
                </a:solidFill>
                <a:effectLst/>
                <a:latin typeface="Noto Serif TC" panose="02020200000000000000" pitchFamily="18" charset="-120"/>
                <a:ea typeface="Noto Serif TC" panose="02020200000000000000" pitchFamily="18" charset="-120"/>
              </a:rPr>
              <a:t>4. Do you like engaging in </a:t>
            </a:r>
            <a:r>
              <a:rPr lang="en-US" altLang="zh-TW" b="1" i="0" dirty="0">
                <a:solidFill>
                  <a:srgbClr val="1F1F1F"/>
                </a:solidFill>
                <a:effectLst/>
                <a:latin typeface="Noto Serif TC" panose="02020200000000000000" pitchFamily="18" charset="-120"/>
                <a:ea typeface="Noto Serif TC" panose="02020200000000000000" pitchFamily="18" charset="-120"/>
              </a:rPr>
              <a:t>small talk</a:t>
            </a:r>
            <a:r>
              <a:rPr lang="en-US" altLang="zh-TW" b="0" i="0" dirty="0">
                <a:solidFill>
                  <a:srgbClr val="1F1F1F"/>
                </a:solidFill>
                <a:effectLst/>
                <a:latin typeface="Noto Serif TC" panose="02020200000000000000" pitchFamily="18" charset="-120"/>
                <a:ea typeface="Noto Serif TC" panose="02020200000000000000" pitchFamily="18" charset="-120"/>
              </a:rPr>
              <a:t>, or do you find it </a:t>
            </a:r>
            <a:r>
              <a:rPr lang="en-US" altLang="zh-TW" b="1" i="0" dirty="0">
                <a:solidFill>
                  <a:srgbClr val="1F1F1F"/>
                </a:solidFill>
                <a:effectLst/>
                <a:latin typeface="Noto Serif TC" panose="02020200000000000000" pitchFamily="18" charset="-120"/>
                <a:ea typeface="Noto Serif TC" panose="02020200000000000000" pitchFamily="18" charset="-120"/>
              </a:rPr>
              <a:t>awkward</a:t>
            </a:r>
            <a:r>
              <a:rPr lang="en-US" altLang="zh-TW" b="0" i="0" dirty="0">
                <a:solidFill>
                  <a:srgbClr val="1F1F1F"/>
                </a:solidFill>
                <a:effectLst/>
                <a:latin typeface="Noto Serif TC" panose="02020200000000000000" pitchFamily="18" charset="-120"/>
                <a:ea typeface="Noto Serif TC" panose="02020200000000000000" pitchFamily="18" charset="-120"/>
              </a:rPr>
              <a:t> when you talk to people you don't know very well?</a:t>
            </a:r>
          </a:p>
          <a:p>
            <a:pPr algn="l"/>
            <a:r>
              <a:rPr lang="en-US" altLang="zh-TW" b="0" i="0" dirty="0">
                <a:solidFill>
                  <a:srgbClr val="1F1F1F"/>
                </a:solidFill>
                <a:effectLst/>
                <a:latin typeface="Noto Serif TC" panose="02020200000000000000" pitchFamily="18" charset="-120"/>
                <a:ea typeface="Noto Serif TC" panose="02020200000000000000" pitchFamily="18" charset="-120"/>
              </a:rPr>
              <a:t>5. How do you start conversation </a:t>
            </a:r>
            <a:r>
              <a:rPr lang="en-US" altLang="zh-TW" dirty="0">
                <a:solidFill>
                  <a:srgbClr val="1F1F1F"/>
                </a:solidFill>
                <a:latin typeface="Noto Serif TC" panose="02020200000000000000" pitchFamily="18" charset="-120"/>
                <a:ea typeface="Noto Serif TC" panose="02020200000000000000" pitchFamily="18" charset="-120"/>
              </a:rPr>
              <a:t>w</a:t>
            </a:r>
            <a:r>
              <a:rPr lang="en-US" altLang="zh-TW" b="0" i="0" dirty="0">
                <a:solidFill>
                  <a:srgbClr val="1F1F1F"/>
                </a:solidFill>
                <a:effectLst/>
                <a:latin typeface="Noto Serif TC" panose="02020200000000000000" pitchFamily="18" charset="-120"/>
                <a:ea typeface="Noto Serif TC" panose="02020200000000000000" pitchFamily="18" charset="-120"/>
              </a:rPr>
              <a:t>hen you meet someone new? </a:t>
            </a:r>
          </a:p>
          <a:p>
            <a:pPr algn="l"/>
            <a:r>
              <a:rPr lang="en-US" altLang="zh-TW" b="0" i="0" dirty="0">
                <a:solidFill>
                  <a:srgbClr val="1F1F1F"/>
                </a:solidFill>
                <a:effectLst/>
                <a:latin typeface="Noto Serif TC" panose="02020200000000000000" pitchFamily="18" charset="-120"/>
                <a:ea typeface="Noto Serif TC" panose="02020200000000000000" pitchFamily="18" charset="-120"/>
              </a:rPr>
              <a:t>6. </a:t>
            </a:r>
            <a:r>
              <a:rPr lang="en-US" altLang="zh-TW" dirty="0">
                <a:solidFill>
                  <a:srgbClr val="1F1F1F"/>
                </a:solidFill>
                <a:latin typeface="Noto Serif TC" panose="02020200000000000000" pitchFamily="18" charset="-120"/>
                <a:ea typeface="Noto Serif TC" panose="02020200000000000000" pitchFamily="18" charset="-120"/>
              </a:rPr>
              <a:t>What are some of your strategies to </a:t>
            </a:r>
            <a:r>
              <a:rPr lang="en-US" altLang="zh-TW" b="0" i="0" dirty="0">
                <a:solidFill>
                  <a:srgbClr val="1F1F1F"/>
                </a:solidFill>
                <a:effectLst/>
                <a:latin typeface="Noto Serif TC" panose="02020200000000000000" pitchFamily="18" charset="-120"/>
                <a:ea typeface="Noto Serif TC" panose="02020200000000000000" pitchFamily="18" charset="-120"/>
              </a:rPr>
              <a:t>avoid </a:t>
            </a:r>
            <a:r>
              <a:rPr lang="en-US" altLang="zh-TW" b="1" i="0" dirty="0">
                <a:solidFill>
                  <a:srgbClr val="1F1F1F"/>
                </a:solidFill>
                <a:effectLst/>
                <a:latin typeface="Noto Serif TC" panose="02020200000000000000" pitchFamily="18" charset="-120"/>
                <a:ea typeface="Noto Serif TC" panose="02020200000000000000" pitchFamily="18" charset="-120"/>
              </a:rPr>
              <a:t>embarrassment</a:t>
            </a:r>
            <a:r>
              <a:rPr lang="en-US" altLang="zh-TW" dirty="0">
                <a:solidFill>
                  <a:srgbClr val="1F1F1F"/>
                </a:solidFill>
                <a:latin typeface="Noto Serif TC" panose="02020200000000000000" pitchFamily="18" charset="-120"/>
                <a:ea typeface="Noto Serif TC" panose="02020200000000000000" pitchFamily="18" charset="-120"/>
              </a:rPr>
              <a:t>? </a:t>
            </a:r>
            <a:endParaRPr lang="en-US" altLang="zh-TW" b="1" i="0" dirty="0">
              <a:solidFill>
                <a:srgbClr val="1F1F1F"/>
              </a:solidFill>
              <a:effectLst/>
              <a:latin typeface="Noto Serif TC" panose="02020200000000000000" pitchFamily="18" charset="-120"/>
              <a:ea typeface="Noto Serif TC" panose="02020200000000000000" pitchFamily="18" charset="-120"/>
            </a:endParaRPr>
          </a:p>
          <a:p>
            <a:pPr algn="l"/>
            <a:r>
              <a:rPr lang="en-US" altLang="zh-TW" b="0" i="0" dirty="0">
                <a:solidFill>
                  <a:srgbClr val="1F1F1F"/>
                </a:solidFill>
                <a:effectLst/>
                <a:latin typeface="Noto Serif TC" panose="02020200000000000000" pitchFamily="18" charset="-120"/>
                <a:ea typeface="Noto Serif TC" panose="02020200000000000000" pitchFamily="18" charset="-120"/>
              </a:rPr>
              <a:t>7. How quickly do you usually try to find something </a:t>
            </a:r>
            <a:r>
              <a:rPr lang="en-US" altLang="zh-TW" b="1" i="0" dirty="0">
                <a:solidFill>
                  <a:srgbClr val="1F1F1F"/>
                </a:solidFill>
                <a:effectLst/>
                <a:latin typeface="Noto Serif TC" panose="02020200000000000000" pitchFamily="18" charset="-120"/>
                <a:ea typeface="Noto Serif TC" panose="02020200000000000000" pitchFamily="18" charset="-120"/>
              </a:rPr>
              <a:t>in common </a:t>
            </a:r>
            <a:r>
              <a:rPr lang="en-US" altLang="zh-TW" b="0" i="0" dirty="0">
                <a:solidFill>
                  <a:srgbClr val="1F1F1F"/>
                </a:solidFill>
                <a:effectLst/>
                <a:latin typeface="Noto Serif TC" panose="02020200000000000000" pitchFamily="18" charset="-120"/>
                <a:ea typeface="Noto Serif TC" panose="02020200000000000000" pitchFamily="18" charset="-120"/>
              </a:rPr>
              <a:t>with a new person to start a conversation?</a:t>
            </a:r>
          </a:p>
          <a:p>
            <a:endParaRPr lang="zh-TW" altLang="en-US" dirty="0"/>
          </a:p>
          <a:p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8FCBED8-712A-44A7-A30E-E00288D2A6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A55B7815-05FA-48A0-B9F7-1E04C4F2927A}" type="datetime1">
              <a:rPr lang="zh-TW" altLang="en-US" smtClean="0"/>
              <a:t>2025/9/25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88627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9A4D5DD-34BF-7119-2F20-DC3DF08D5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Arial" panose="020B0604020202020204" pitchFamily="34" charset="0"/>
                <a:ea typeface="STSong" panose="02010600040101010101" pitchFamily="2" charset="-122"/>
                <a:cs typeface="Arial" panose="020B0604020202020204" pitchFamily="34" charset="0"/>
              </a:rPr>
              <a:t>Takeaway</a:t>
            </a:r>
            <a:endParaRPr lang="zh-TW" altLang="en-US" dirty="0">
              <a:latin typeface="Arial" panose="020B0604020202020204" pitchFamily="34" charset="0"/>
              <a:ea typeface="STSong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F167B6A-0723-E802-BBCA-539EDDAC1B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2840" y="3695172"/>
            <a:ext cx="9926320" cy="2300184"/>
          </a:xfrm>
        </p:spPr>
        <p:txBody>
          <a:bodyPr>
            <a:normAutofit fontScale="92500" lnSpcReduction="2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altLang="zh-TW" sz="2400" dirty="0">
                <a:effectLst/>
              </a:rPr>
              <a:t>It is completely normal for people to have different preferences for socializing. 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TW" sz="2400" dirty="0">
                <a:effectLst/>
              </a:rPr>
              <a:t>Some people, like Georgie, enjoy big parties and meeting new people, while others, like Neil, prefer smaller, more familiar groups. 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TW" sz="2400" dirty="0">
                <a:effectLst/>
              </a:rPr>
              <a:t>This conversation is a perfect example of how to politely share and contrast personal opinions in a friendly, natural way in English.</a:t>
            </a:r>
          </a:p>
          <a:p>
            <a:pPr marL="457200" indent="-457200">
              <a:buFont typeface="+mj-lt"/>
              <a:buAutoNum type="arabicPeriod"/>
            </a:pPr>
            <a:endParaRPr lang="zh-TW" altLang="en-US" sz="2400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7F5C7FF-287A-5D43-3C85-4E7B1860C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A55B7815-05FA-48A0-B9F7-1E04C4F2927A}" type="datetime1">
              <a:rPr lang="zh-TW" altLang="en-US" smtClean="0"/>
              <a:t>2025/9/25</a:t>
            </a:fld>
            <a:endParaRPr lang="en-US" dirty="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64BFBF84-1FE4-EAD6-A6E3-84A5301D89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3091557"/>
              </p:ext>
            </p:extLst>
          </p:nvPr>
        </p:nvGraphicFramePr>
        <p:xfrm>
          <a:off x="1464132" y="1967334"/>
          <a:ext cx="8909229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28188">
                  <a:extLst>
                    <a:ext uri="{9D8B030D-6E8A-4147-A177-3AD203B41FA5}">
                      <a16:colId xmlns:a16="http://schemas.microsoft.com/office/drawing/2014/main" val="1739024162"/>
                    </a:ext>
                  </a:extLst>
                </a:gridCol>
                <a:gridCol w="2811298">
                  <a:extLst>
                    <a:ext uri="{9D8B030D-6E8A-4147-A177-3AD203B41FA5}">
                      <a16:colId xmlns:a16="http://schemas.microsoft.com/office/drawing/2014/main" val="2388088975"/>
                    </a:ext>
                  </a:extLst>
                </a:gridCol>
                <a:gridCol w="2969743">
                  <a:extLst>
                    <a:ext uri="{9D8B030D-6E8A-4147-A177-3AD203B41FA5}">
                      <a16:colId xmlns:a16="http://schemas.microsoft.com/office/drawing/2014/main" val="17451355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sz="2400" dirty="0">
                          <a:effectLst/>
                        </a:rPr>
                        <a:t>The Great Debate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>
                          <a:effectLst/>
                        </a:rPr>
                        <a:t>Big Parties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>
                          <a:effectLst/>
                        </a:rPr>
                        <a:t>Small Gatherings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47719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400" dirty="0">
                          <a:effectLst/>
                        </a:rPr>
                        <a:t>Meeting New People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>
                          <a:effectLst/>
                        </a:rPr>
                        <a:t>Excitement 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>
                          <a:effectLst/>
                        </a:rPr>
                        <a:t>Awkwardness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74358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400" dirty="0">
                          <a:effectLst/>
                        </a:rPr>
                        <a:t>Finding Your Energy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>
                          <a:effectLst/>
                        </a:rPr>
                        <a:t>Alone Time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>
                          <a:effectLst/>
                        </a:rPr>
                        <a:t>Social Time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86867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72245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0A936DA-2232-D6AF-6438-D3037493B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2610" y="286603"/>
            <a:ext cx="7113069" cy="1186597"/>
          </a:xfrm>
        </p:spPr>
        <p:txBody>
          <a:bodyPr>
            <a:normAutofit/>
          </a:bodyPr>
          <a:lstStyle/>
          <a:p>
            <a:r>
              <a:rPr lang="en-US" altLang="zh-TW" sz="3600" dirty="0">
                <a:solidFill>
                  <a:srgbClr val="00B0F0"/>
                </a:solidFill>
                <a:latin typeface="STXihei" panose="02010600040101010101" pitchFamily="2" charset="-122"/>
                <a:ea typeface="STXihei" panose="02010600040101010101" pitchFamily="2" charset="-122"/>
              </a:rPr>
              <a:t>Update on CN Academy</a:t>
            </a:r>
            <a:endParaRPr lang="zh-TW" altLang="en-US" sz="3600" dirty="0">
              <a:solidFill>
                <a:srgbClr val="00B0F0"/>
              </a:solidFill>
              <a:latin typeface="STXihei" panose="02010600040101010101" pitchFamily="2" charset="-122"/>
              <a:ea typeface="STXihei" panose="02010600040101010101" pitchFamily="2" charset="-122"/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7EFE5D59-A075-4C63-7800-D1BEE5BF17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30832"/>
            <a:ext cx="54502" cy="4616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br>
              <a:rPr kumimoji="0" lang="zh-TW" altLang="zh-TW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PingFang-SC"/>
              </a:rPr>
            </a:br>
            <a:endParaRPr kumimoji="0" lang="zh-TW" altLang="zh-TW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6EE43F82-E436-04CC-DFEF-ED1B7C43AA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36320" y="912654"/>
            <a:ext cx="2424361" cy="560546"/>
          </a:xfrm>
          <a:prstGeom prst="rect">
            <a:avLst/>
          </a:prstGeom>
        </p:spPr>
      </p:pic>
      <p:sp>
        <p:nvSpPr>
          <p:cNvPr id="14" name="文字方塊 13">
            <a:extLst>
              <a:ext uri="{FF2B5EF4-FFF2-40B4-BE49-F238E27FC236}">
                <a16:creationId xmlns:a16="http://schemas.microsoft.com/office/drawing/2014/main" id="{717F432A-4C6A-B294-804E-4FC963282855}"/>
              </a:ext>
            </a:extLst>
          </p:cNvPr>
          <p:cNvSpPr txBox="1"/>
          <p:nvPr/>
        </p:nvSpPr>
        <p:spPr>
          <a:xfrm>
            <a:off x="1036320" y="2675374"/>
            <a:ext cx="31191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>
                <a:hlinkClick r:id="rId3"/>
              </a:rPr>
              <a:t>Cisco Networking Academy: Computer Hardware Basics</a:t>
            </a:r>
            <a:endParaRPr lang="zh-TW" altLang="en-US" dirty="0"/>
          </a:p>
        </p:txBody>
      </p:sp>
      <p:pic>
        <p:nvPicPr>
          <p:cNvPr id="16" name="圖片 15">
            <a:extLst>
              <a:ext uri="{FF2B5EF4-FFF2-40B4-BE49-F238E27FC236}">
                <a16:creationId xmlns:a16="http://schemas.microsoft.com/office/drawing/2014/main" id="{E373C882-C736-120C-0410-6DEE9E017B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5200" y="2123080"/>
            <a:ext cx="5215652" cy="4570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9113308"/>
      </p:ext>
    </p:extLst>
  </p:cSld>
  <p:clrMapOvr>
    <a:masterClrMapping/>
  </p:clrMapOvr>
</p:sld>
</file>

<file path=ppt/theme/theme1.xml><?xml version="1.0" encoding="utf-8"?>
<a:theme xmlns:a="http://schemas.openxmlformats.org/drawingml/2006/main" name="1_RetrospectVTI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1798665_TF56160789.potx" id="{C03BE16E-05B7-438C-85CB-7604B66C50C5}" vid="{E3EA7662-8E7E-4B1D-9203-FBA998A86136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{37E69328-BF55-448F-BC7C-8D48598C2492}tf56160789_win32</Template>
  <TotalTime>0</TotalTime>
  <Words>596</Words>
  <Application>Microsoft Office PowerPoint</Application>
  <PresentationFormat>寬螢幕</PresentationFormat>
  <Paragraphs>60</Paragraphs>
  <Slides>10</Slides>
  <Notes>2</Notes>
  <HiddenSlides>0</HiddenSlides>
  <MMClips>2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9" baseType="lpstr">
      <vt:lpstr>Inter</vt:lpstr>
      <vt:lpstr>Microsoft JhengHei UI</vt:lpstr>
      <vt:lpstr>Noto Serif TC</vt:lpstr>
      <vt:lpstr>STKaiti</vt:lpstr>
      <vt:lpstr>STXihei</vt:lpstr>
      <vt:lpstr>細明體</vt:lpstr>
      <vt:lpstr>Arial</vt:lpstr>
      <vt:lpstr>Calibri</vt:lpstr>
      <vt:lpstr>1_RetrospectVTI</vt:lpstr>
      <vt:lpstr>English for Information Technology</vt:lpstr>
      <vt:lpstr>BBC Learning English</vt:lpstr>
      <vt:lpstr>BBC Learning English</vt:lpstr>
      <vt:lpstr>BBC Learning English</vt:lpstr>
      <vt:lpstr>Online resources for today</vt:lpstr>
      <vt:lpstr>Listen</vt:lpstr>
      <vt:lpstr>Vocabulary</vt:lpstr>
      <vt:lpstr>Speak</vt:lpstr>
      <vt:lpstr>Takeaway</vt:lpstr>
      <vt:lpstr>Update on CN Academy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Luke Miao</dc:creator>
  <cp:lastModifiedBy>Luke Miao</cp:lastModifiedBy>
  <cp:revision>32</cp:revision>
  <dcterms:created xsi:type="dcterms:W3CDTF">2025-09-08T16:31:02Z</dcterms:created>
  <dcterms:modified xsi:type="dcterms:W3CDTF">2025-09-25T04:31:17Z</dcterms:modified>
</cp:coreProperties>
</file>