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2"/>
  </p:notesMasterIdLst>
  <p:handoutMasterIdLst>
    <p:handoutMasterId r:id="rId13"/>
  </p:handoutMasterIdLst>
  <p:sldIdLst>
    <p:sldId id="257" r:id="rId2"/>
    <p:sldId id="287" r:id="rId3"/>
    <p:sldId id="289" r:id="rId4"/>
    <p:sldId id="288" r:id="rId5"/>
    <p:sldId id="277" r:id="rId6"/>
    <p:sldId id="284" r:id="rId7"/>
    <p:sldId id="283" r:id="rId8"/>
    <p:sldId id="286" r:id="rId9"/>
    <p:sldId id="285" r:id="rId10"/>
    <p:sldId id="266" r:id="rId11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2AAF9F1-E50B-45AB-9DDD-AEB2F95F53E1}">
          <p14:sldIdLst>
            <p14:sldId id="257"/>
            <p14:sldId id="287"/>
            <p14:sldId id="289"/>
            <p14:sldId id="288"/>
            <p14:sldId id="277"/>
            <p14:sldId id="284"/>
            <p14:sldId id="283"/>
            <p14:sldId id="286"/>
            <p14:sldId id="28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0261E5-B7A8-407C-8EC1-76B17CEB3BFC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0AEE62-6B03-446E-B028-1F2C67AA2CBE}" type="datetime1">
              <a:rPr lang="zh-TW" altLang="en-US" smtClean="0"/>
              <a:t>2025/9/25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50AEE62-6B03-446E-B028-1F2C67AA2CBE}" type="datetime1">
              <a:rPr lang="zh-TW" altLang="en-US" smtClean="0"/>
              <a:t>2025/9/25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79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50AEE62-6B03-446E-B028-1F2C67AA2CBE}" type="datetime1">
              <a:rPr lang="zh-TW" altLang="en-US" smtClean="0"/>
              <a:t>2025/9/25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06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E8D126-38DE-467F-A065-2775F6C58740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BF2AB9-D521-429F-BA9E-A2DD356AF2DF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8A74C-3BFC-4F64-9D88-E80E3E32994C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66BAE-2749-48CF-A2DD-C010F9F8CC67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B3E87-0960-43A6-B33B-AB6B15A82628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2F8F0-693D-4EF4-BEF5-7FD95F4C1D80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E96419C-65CA-4A96-8C8D-1B83D1EEA06C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5B0D56E-A8D9-4835-9121-D0F2B7B922B1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90E0D-C35F-4A14-A7E8-7670CE6639F2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02858-A2D1-43A3-9BDC-80D1F48AA51B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6D72111-2BF8-49E3-AA06-55BC47AB46EA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bbc.co.uk/learningenglish/english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bbc.co.uk/learningenglish/english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bbc.co.uk/learningenglish/english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bbc.com/learningenglish/english/features/real-easy-english/25060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acad.com/launch?id=10349eca-196c-4047-9c86-6dc1da4601f6&amp;tab=curriculum&amp;view=02e500cc-28e7-5b0c-95bd-69fa769d3491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矩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5984" y="1100030"/>
            <a:ext cx="6273116" cy="3225082"/>
          </a:xfrm>
        </p:spPr>
        <p:txBody>
          <a:bodyPr rtlCol="0">
            <a:normAutofit/>
          </a:bodyPr>
          <a:lstStyle/>
          <a:p>
            <a:r>
              <a:rPr lang="en-US" altLang="zh-TW" sz="6600" b="1" dirty="0">
                <a:solidFill>
                  <a:srgbClr val="0070C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English for Information Technology</a:t>
            </a:r>
            <a:endParaRPr lang="zh-tw" sz="6600" dirty="0">
              <a:solidFill>
                <a:srgbClr val="0070C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7754" y="4672739"/>
            <a:ext cx="6131346" cy="1021498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Dept of information management, </a:t>
            </a:r>
            <a:r>
              <a:rPr lang="en-US" altLang="zh-TW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Yuanze</a:t>
            </a: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University</a:t>
            </a:r>
            <a:endParaRPr lang="zh-tw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圖片 4" descr="含有建築物、坐下、板凳、側面的圖片&#10;&#10;自動產生的描述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968657" cy="6857999"/>
          </a:xfrm>
          <a:prstGeom prst="rect">
            <a:avLst/>
          </a:prstGeom>
        </p:spPr>
      </p:pic>
      <p:cxnSp>
        <p:nvCxnSpPr>
          <p:cNvPr id="24" name="直線接點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739B2C-D4C0-AE14-8636-53A49D03136C}"/>
              </a:ext>
            </a:extLst>
          </p:cNvPr>
          <p:cNvSpPr txBox="1"/>
          <p:nvPr/>
        </p:nvSpPr>
        <p:spPr>
          <a:xfrm>
            <a:off x="913200" y="5183488"/>
            <a:ext cx="11594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Week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CAAD0-D39B-FD32-0C82-F9BC729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7506"/>
            <a:ext cx="10779760" cy="1450757"/>
          </a:xfrm>
        </p:spPr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BBC Learning English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171D4-C3A5-B6BA-24D8-F2EF4AEA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31929C7-417E-1498-B81E-1A0D908C5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60" y="2131916"/>
            <a:ext cx="8306959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8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CAAD0-D39B-FD32-0C82-F9BC729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7506"/>
            <a:ext cx="10779760" cy="1450757"/>
          </a:xfrm>
        </p:spPr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BBC Learning English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171D4-C3A5-B6BA-24D8-F2EF4AEA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DEA198C-027A-44E7-17BD-CA0302EED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51156"/>
            <a:ext cx="5323840" cy="224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25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CAAD0-D39B-FD32-0C82-F9BC729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7506"/>
            <a:ext cx="10779760" cy="1450757"/>
          </a:xfrm>
        </p:spPr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BBC Learning English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250924_LEFTN_trumps_unproven_autism_claim_download">
            <a:hlinkClick r:id="" action="ppaction://media"/>
            <a:extLst>
              <a:ext uri="{FF2B5EF4-FFF2-40B4-BE49-F238E27FC236}">
                <a16:creationId xmlns:a16="http://schemas.microsoft.com/office/drawing/2014/main" id="{C36491E7-BE97-78CE-1226-2C87F10BADCA}"/>
              </a:ext>
            </a:extLst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0599" y="2646998"/>
            <a:ext cx="487362" cy="487362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171D4-C3A5-B6BA-24D8-F2EF4AEA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BB00B7C-B5DC-A327-5624-0238DCFC8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9599" y="1948263"/>
            <a:ext cx="5579745" cy="48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4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945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Online resources for today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34B455-DEED-E592-F9C2-3E86001B43C0}"/>
              </a:ext>
            </a:extLst>
          </p:cNvPr>
          <p:cNvSpPr txBox="1"/>
          <p:nvPr/>
        </p:nvSpPr>
        <p:spPr>
          <a:xfrm>
            <a:off x="1161908" y="1944650"/>
            <a:ext cx="4193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2"/>
              </a:rPr>
              <a:t>Original</a:t>
            </a:r>
            <a:r>
              <a:rPr lang="zh-TW" altLang="en-US" dirty="0">
                <a:hlinkClick r:id="rId2"/>
              </a:rPr>
              <a:t> </a:t>
            </a:r>
            <a:r>
              <a:rPr lang="en-US" altLang="zh-TW" dirty="0">
                <a:hlinkClick r:id="rId2"/>
              </a:rPr>
              <a:t>Article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D5E404D-984D-D0A0-F701-A0521A20C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96204"/>
            <a:ext cx="6257068" cy="536179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7CCDA00-68AD-5712-71E5-83FA97DDD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45" y="2599054"/>
            <a:ext cx="37719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203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20C0E6-D6C1-79AF-99DE-52A80C59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Listen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40B416-9273-FA26-2649-61181B781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976880"/>
            <a:ext cx="5455920" cy="2143761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>
                <a:solidFill>
                  <a:srgbClr val="333333"/>
                </a:solidFill>
                <a:highlight>
                  <a:srgbClr val="00FFFF"/>
                </a:highlight>
                <a:latin typeface="Arial" panose="020B0604020202020204" pitchFamily="34" charset="0"/>
              </a:rPr>
              <a:t>Two persons, two views</a:t>
            </a:r>
            <a:endParaRPr lang="zh-TW" altLang="en-US" dirty="0">
              <a:highlight>
                <a:srgbClr val="00FFFF"/>
              </a:highlight>
            </a:endParaRPr>
          </a:p>
          <a:p>
            <a:pPr algn="l"/>
            <a:r>
              <a:rPr lang="en-US" altLang="zh-TW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Neil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US" altLang="zh-TW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Georgie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have a real conversation in easy English about </a:t>
            </a:r>
          </a:p>
          <a:p>
            <a:pPr algn="l"/>
            <a:r>
              <a:rPr lang="en-US" altLang="zh-TW" sz="28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spending time with friends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algn="l"/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Learn to talk about what you do with your friends and whether you like </a:t>
            </a:r>
            <a:r>
              <a:rPr lang="en-US" altLang="zh-TW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socialising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4F3CA6-4582-6B5B-D411-1FF5A669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pic>
        <p:nvPicPr>
          <p:cNvPr id="7" name="RealEasyEnglish_socialising_download">
            <a:hlinkClick r:id="" action="ppaction://media"/>
            <a:extLst>
              <a:ext uri="{FF2B5EF4-FFF2-40B4-BE49-F238E27FC236}">
                <a16:creationId xmlns:a16="http://schemas.microsoft.com/office/drawing/2014/main" id="{3DDD05C7-1B8B-C1DA-A365-7552D164BC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9195" y="2271714"/>
            <a:ext cx="487363" cy="487363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3A9D743-9015-D980-B197-BE0B3A4BF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320" y="2114234"/>
            <a:ext cx="3345180" cy="334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49BAE87-55DE-CFD7-E0D3-14338F6A688D}"/>
              </a:ext>
            </a:extLst>
          </p:cNvPr>
          <p:cNvSpPr txBox="1">
            <a:spLocks/>
          </p:cNvSpPr>
          <p:nvPr/>
        </p:nvSpPr>
        <p:spPr>
          <a:xfrm>
            <a:off x="7985760" y="5459414"/>
            <a:ext cx="3942080" cy="11699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333333"/>
                </a:solidFill>
                <a:latin typeface="Arial" panose="020B0604020202020204" pitchFamily="34" charset="0"/>
              </a:rPr>
              <a:t>For a script of the video, scan this QR code with your phone</a:t>
            </a:r>
          </a:p>
        </p:txBody>
      </p:sp>
    </p:spTree>
    <p:extLst>
      <p:ext uri="{BB962C8B-B14F-4D97-AF65-F5344CB8AC3E}">
        <p14:creationId xmlns:p14="http://schemas.microsoft.com/office/powerpoint/2010/main" val="369246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914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27CEE-65AE-0016-1F6A-E6471CD7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Vocabulary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3EFA33-D942-484B-C923-62FFF16C6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4924"/>
            <a:ext cx="5265683" cy="437475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altLang="zh-TW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socialise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 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spend time with people for fun, like friends or family.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"I love to socialize with my friends on weekends."</a:t>
            </a:r>
            <a:endParaRPr lang="en-US" altLang="zh-TW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small talk</a:t>
            </a:r>
            <a:b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 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conversation about unimportant things, like the weather, usually with people you don't know well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"Neil doesn't like small talk because he finds it empty."</a:t>
            </a:r>
            <a:endParaRPr lang="en-US" altLang="zh-TW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awkward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 Feeling uncomfortable or strange in a situation, especially when meeting new people.</a:t>
            </a:r>
            <a:b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"Neil finds small talk awkward."</a:t>
            </a:r>
            <a:endParaRPr lang="en-US" altLang="zh-TW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embarrassed</a:t>
            </a:r>
            <a:b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 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Feeling ashamed or uncomfortable, often because of something you did or said.</a:t>
            </a:r>
            <a:b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"Sometimes Neil feels embarrassed when he doesn't find something in common with new people."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5580A8-EF0E-4E40-3439-77EC6B89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582A5435-B465-A95A-B5A3-BD74142A9DCA}"/>
              </a:ext>
            </a:extLst>
          </p:cNvPr>
          <p:cNvSpPr txBox="1">
            <a:spLocks/>
          </p:cNvSpPr>
          <p:nvPr/>
        </p:nvSpPr>
        <p:spPr>
          <a:xfrm>
            <a:off x="6640436" y="1917086"/>
            <a:ext cx="5265683" cy="4260193"/>
          </a:xfrm>
          <a:prstGeom prst="rect">
            <a:avLst/>
          </a:prstGeom>
        </p:spPr>
        <p:txBody>
          <a:bodyPr vert="horz" lIns="0" tIns="45720" rIns="0" bIns="45720" rtlCol="0">
            <a:normAutofit fontScale="775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b="1" i="0" dirty="0">
                <a:solidFill>
                  <a:schemeClr val="tx1"/>
                </a:solidFill>
                <a:effectLst/>
                <a:latin typeface="Inter"/>
              </a:rPr>
              <a:t>Grown-ups</a:t>
            </a:r>
            <a:b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D1D5DB"/>
                </a:solidFill>
                <a:effectLst/>
                <a:latin typeface="Inter"/>
              </a:rPr>
              <a:t> Adult people, not children.</a:t>
            </a:r>
            <a:br>
              <a:rPr lang="en-US" altLang="zh-TW" b="0" i="0" dirty="0">
                <a:solidFill>
                  <a:srgbClr val="D1D5DB"/>
                </a:solidFill>
                <a:effectLst/>
                <a:latin typeface="Inter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"Grown-ups often have many responsibilities, like work and family."</a:t>
            </a:r>
          </a:p>
          <a:p>
            <a:pPr algn="l"/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have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(something) in common</a:t>
            </a:r>
            <a:b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 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share the same interests, likes or dislikes 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Example:</a:t>
            </a:r>
            <a:r>
              <a:rPr lang="en-US" altLang="zh-TW" b="0" i="1" dirty="0">
                <a:solidFill>
                  <a:srgbClr val="9CA3AF"/>
                </a:solidFill>
                <a:effectLst/>
                <a:latin typeface="Inter"/>
              </a:rPr>
              <a:t> "If you find something in common with someone, it's easier to talk."</a:t>
            </a:r>
            <a:endParaRPr lang="en-US" altLang="zh-TW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altLang="zh-TW" b="1" dirty="0">
                <a:solidFill>
                  <a:srgbClr val="333333"/>
                </a:solidFill>
                <a:latin typeface="Arial" panose="020B0604020202020204" pitchFamily="34" charset="0"/>
              </a:rPr>
              <a:t>Social burnout</a:t>
            </a:r>
            <a:br>
              <a:rPr lang="en-US" altLang="zh-TW" b="1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n-US" altLang="zh-TW" sz="1600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sz="1600" b="0" i="0" dirty="0">
                <a:solidFill>
                  <a:srgbClr val="0070C0"/>
                </a:solidFill>
                <a:effectLst/>
                <a:latin typeface="Inter"/>
              </a:rPr>
              <a:t> </a:t>
            </a:r>
            <a:r>
              <a:rPr lang="en-US" altLang="zh-TW" sz="1600" dirty="0">
                <a:solidFill>
                  <a:srgbClr val="0070C0"/>
                </a:solidFill>
                <a:latin typeface="Inter"/>
              </a:rPr>
              <a:t>Feeling very tired and exhausted because you have spent too much time with other people.</a:t>
            </a:r>
            <a:br>
              <a:rPr lang="en-US" altLang="zh-TW" sz="1600" dirty="0">
                <a:solidFill>
                  <a:srgbClr val="0070C0"/>
                </a:solidFill>
                <a:latin typeface="Inter"/>
              </a:rPr>
            </a:br>
            <a:r>
              <a:rPr lang="en-US" altLang="zh-TW" i="1" dirty="0">
                <a:solidFill>
                  <a:srgbClr val="0070C0"/>
                </a:solidFill>
                <a:latin typeface="Arial" panose="020B0604020202020204" pitchFamily="34" charset="0"/>
              </a:rPr>
              <a:t>Example</a:t>
            </a:r>
            <a:r>
              <a:rPr lang="en-US" altLang="zh-TW" dirty="0">
                <a:solidFill>
                  <a:srgbClr val="0070C0"/>
                </a:solidFill>
                <a:latin typeface="Arial" panose="020B0604020202020204" pitchFamily="34" charset="0"/>
              </a:rPr>
              <a:t>: Georgie sometimes 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experiences social burnout after many social plans.</a:t>
            </a:r>
          </a:p>
          <a:p>
            <a:pPr algn="l"/>
            <a:r>
              <a:rPr lang="en-US" altLang="zh-TW" b="1" dirty="0">
                <a:solidFill>
                  <a:srgbClr val="333333"/>
                </a:solidFill>
                <a:latin typeface="Arial" panose="020B0604020202020204" pitchFamily="34" charset="0"/>
              </a:rPr>
              <a:t>Recap</a:t>
            </a:r>
            <a:br>
              <a:rPr lang="en-US" altLang="zh-TW" b="1" dirty="0">
                <a:solidFill>
                  <a:srgbClr val="333333"/>
                </a:solidFill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0ADB5"/>
                </a:solidFill>
                <a:effectLst/>
                <a:latin typeface="Inter"/>
              </a:rPr>
              <a:t>Definition: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 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 summarize or repeat the main ideas or points of something.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0" i="1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: "At the end of the podcast, Neil and Georgie recap the new vocabulary."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164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7F9C80-D71B-BDD7-1402-E3D98A1D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Speak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5D6469-17D8-C5E2-7B0A-DA8167C7F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1. The podcast speaks about getting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social burnout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 and needing time alone. Which do you prefer: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spending time alone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 to relax and get energy, or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hanging out with friends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? </a:t>
            </a:r>
          </a:p>
          <a:p>
            <a:pPr algn="l"/>
            <a:r>
              <a:rPr lang="en-US" altLang="zh-TW" dirty="0">
                <a:solidFill>
                  <a:srgbClr val="1F1F1F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2. 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How do you feel if you are alone </a:t>
            </a:r>
            <a:r>
              <a:rPr lang="en-US" altLang="zh-TW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for too long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?</a:t>
            </a:r>
          </a:p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3. When socializing, do you prefer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big parties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 because you like meeting new people and dancing, or do you prefer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smaller social events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 where you can have "deeper conversations" with fewer people?</a:t>
            </a:r>
          </a:p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4. Do you like engaging in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small talk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, or do you find it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awkward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 when you talk to people you don't know very well?</a:t>
            </a:r>
          </a:p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5. How do you start conversation </a:t>
            </a:r>
            <a:r>
              <a:rPr lang="en-US" altLang="zh-TW" dirty="0">
                <a:solidFill>
                  <a:srgbClr val="1F1F1F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w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hen you meet someone new? </a:t>
            </a:r>
          </a:p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6. </a:t>
            </a:r>
            <a:r>
              <a:rPr lang="en-US" altLang="zh-TW" dirty="0">
                <a:solidFill>
                  <a:srgbClr val="1F1F1F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What are some of your strategies to 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avoid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embarrassment</a:t>
            </a:r>
            <a:r>
              <a:rPr lang="en-US" altLang="zh-TW" dirty="0">
                <a:solidFill>
                  <a:srgbClr val="1F1F1F"/>
                </a:solidFill>
                <a:latin typeface="Noto Serif TC" panose="02020200000000000000" pitchFamily="18" charset="-120"/>
                <a:ea typeface="Noto Serif TC" panose="02020200000000000000" pitchFamily="18" charset="-120"/>
              </a:rPr>
              <a:t>? </a:t>
            </a:r>
            <a:endParaRPr lang="en-US" altLang="zh-TW" b="1" i="0" dirty="0">
              <a:solidFill>
                <a:srgbClr val="1F1F1F"/>
              </a:solidFill>
              <a:effectLst/>
              <a:latin typeface="Noto Serif TC" panose="02020200000000000000" pitchFamily="18" charset="-120"/>
              <a:ea typeface="Noto Serif TC" panose="02020200000000000000" pitchFamily="18" charset="-120"/>
            </a:endParaRPr>
          </a:p>
          <a:p>
            <a:pPr algn="l"/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7. How quickly do you usually try to find something </a:t>
            </a:r>
            <a:r>
              <a:rPr lang="en-US" altLang="zh-TW" b="1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in common </a:t>
            </a:r>
            <a:r>
              <a:rPr lang="en-US" altLang="zh-TW" b="0" i="0" dirty="0">
                <a:solidFill>
                  <a:srgbClr val="1F1F1F"/>
                </a:solidFill>
                <a:effectLst/>
                <a:latin typeface="Noto Serif TC" panose="02020200000000000000" pitchFamily="18" charset="-120"/>
                <a:ea typeface="Noto Serif TC" panose="02020200000000000000" pitchFamily="18" charset="-120"/>
              </a:rPr>
              <a:t>with a new person to start a conversation?</a:t>
            </a:r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FCBED8-712A-44A7-A30E-E00288D2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862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4D5DD-34BF-7119-2F20-DC3DF08D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ea typeface="STSong" panose="02010600040101010101" pitchFamily="2" charset="-122"/>
                <a:cs typeface="Arial" panose="020B0604020202020204" pitchFamily="34" charset="0"/>
              </a:rPr>
              <a:t>Takeaway</a:t>
            </a:r>
            <a:endParaRPr lang="zh-TW" altLang="en-US" dirty="0">
              <a:latin typeface="Arial" panose="020B0604020202020204" pitchFamily="34" charset="0"/>
              <a:ea typeface="STSong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167B6A-0723-E802-BBCA-539EDDAC1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840" y="3695172"/>
            <a:ext cx="9926320" cy="2300184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effectLst/>
              </a:rPr>
              <a:t>It is completely normal for people to have different preferences for socializing.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effectLst/>
              </a:rPr>
              <a:t>Some people, like Georgie, enjoy big parties and meeting new people, while others, like Neil, prefer smaller, more familiar groups.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effectLst/>
              </a:rPr>
              <a:t>This conversation is a perfect example of how to politely share and contrast personal opinions in a friendly, natural way in English.</a:t>
            </a:r>
          </a:p>
          <a:p>
            <a:pPr marL="457200" indent="-457200">
              <a:buFont typeface="+mj-lt"/>
              <a:buAutoNum type="arabicPeriod"/>
            </a:pPr>
            <a:endParaRPr lang="zh-TW" altLang="en-US" sz="24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F5C7FF-287A-5D43-3C85-4E7B1860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2025/9/25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BFBF84-1FE4-EAD6-A6E3-84A5301D8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091557"/>
              </p:ext>
            </p:extLst>
          </p:nvPr>
        </p:nvGraphicFramePr>
        <p:xfrm>
          <a:off x="1464132" y="1967334"/>
          <a:ext cx="890922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8188">
                  <a:extLst>
                    <a:ext uri="{9D8B030D-6E8A-4147-A177-3AD203B41FA5}">
                      <a16:colId xmlns:a16="http://schemas.microsoft.com/office/drawing/2014/main" val="1739024162"/>
                    </a:ext>
                  </a:extLst>
                </a:gridCol>
                <a:gridCol w="2811298">
                  <a:extLst>
                    <a:ext uri="{9D8B030D-6E8A-4147-A177-3AD203B41FA5}">
                      <a16:colId xmlns:a16="http://schemas.microsoft.com/office/drawing/2014/main" val="2388088975"/>
                    </a:ext>
                  </a:extLst>
                </a:gridCol>
                <a:gridCol w="2969743">
                  <a:extLst>
                    <a:ext uri="{9D8B030D-6E8A-4147-A177-3AD203B41FA5}">
                      <a16:colId xmlns:a16="http://schemas.microsoft.com/office/drawing/2014/main" val="1745135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The Great Debate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Big Parties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Small Gatherings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771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Meeting New People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Excitement 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Awkwardness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435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Finding Your Energy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Alone Time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</a:rPr>
                        <a:t>Social Time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686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224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610" y="286603"/>
            <a:ext cx="7113069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Update on CN Academy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EE43F82-E436-04CC-DFEF-ED1B7C43A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20" y="912654"/>
            <a:ext cx="2424361" cy="560546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17F432A-4C6A-B294-804E-4FC963282855}"/>
              </a:ext>
            </a:extLst>
          </p:cNvPr>
          <p:cNvSpPr txBox="1"/>
          <p:nvPr/>
        </p:nvSpPr>
        <p:spPr>
          <a:xfrm>
            <a:off x="1036320" y="2675374"/>
            <a:ext cx="311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3"/>
              </a:rPr>
              <a:t>Cisco Networking Academy: Computer Hardware Basics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295AD71-96C3-81F2-7863-5B1C54A87549}"/>
              </a:ext>
            </a:extLst>
          </p:cNvPr>
          <p:cNvSpPr txBox="1"/>
          <p:nvPr/>
        </p:nvSpPr>
        <p:spPr>
          <a:xfrm>
            <a:off x="1026160" y="3681214"/>
            <a:ext cx="3119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Update this week:</a:t>
            </a:r>
          </a:p>
          <a:p>
            <a:r>
              <a:rPr lang="en-US" altLang="zh-TW" dirty="0"/>
              <a:t>Finish learning Module 2 Laptops</a:t>
            </a:r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C9B7872C-70D9-4A17-B6B7-C8D338F02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840" y="2001824"/>
            <a:ext cx="5658640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13308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{37E69328-BF55-448F-BC7C-8D48598C2492}tf56160789_win32</Template>
  <TotalTime>0</TotalTime>
  <Words>619</Words>
  <Application>Microsoft Office PowerPoint</Application>
  <PresentationFormat>寬螢幕</PresentationFormat>
  <Paragraphs>63</Paragraphs>
  <Slides>10</Slides>
  <Notes>2</Notes>
  <HiddenSlides>0</HiddenSlides>
  <MMClips>2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9" baseType="lpstr">
      <vt:lpstr>Inter</vt:lpstr>
      <vt:lpstr>Microsoft JhengHei UI</vt:lpstr>
      <vt:lpstr>Noto Serif TC</vt:lpstr>
      <vt:lpstr>STKaiti</vt:lpstr>
      <vt:lpstr>STXihei</vt:lpstr>
      <vt:lpstr>細明體</vt:lpstr>
      <vt:lpstr>Arial</vt:lpstr>
      <vt:lpstr>Calibri</vt:lpstr>
      <vt:lpstr>1_RetrospectVTI</vt:lpstr>
      <vt:lpstr>English for Information Technology</vt:lpstr>
      <vt:lpstr>BBC Learning English</vt:lpstr>
      <vt:lpstr>BBC Learning English</vt:lpstr>
      <vt:lpstr>BBC Learning English</vt:lpstr>
      <vt:lpstr>Online resources for today</vt:lpstr>
      <vt:lpstr>Listen</vt:lpstr>
      <vt:lpstr>Vocabulary</vt:lpstr>
      <vt:lpstr>Speak</vt:lpstr>
      <vt:lpstr>Takeaway</vt:lpstr>
      <vt:lpstr>Update on CN Academy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Miao</dc:creator>
  <cp:lastModifiedBy>Luke Miao</cp:lastModifiedBy>
  <cp:revision>34</cp:revision>
  <dcterms:created xsi:type="dcterms:W3CDTF">2025-09-08T16:31:02Z</dcterms:created>
  <dcterms:modified xsi:type="dcterms:W3CDTF">2025-09-25T05:05:09Z</dcterms:modified>
</cp:coreProperties>
</file>